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7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7" r:id="rId10"/>
    <p:sldId id="269" r:id="rId11"/>
    <p:sldId id="270" r:id="rId12"/>
    <p:sldId id="266" r:id="rId13"/>
    <p:sldId id="271" r:id="rId14"/>
    <p:sldId id="272" r:id="rId15"/>
    <p:sldId id="265" r:id="rId16"/>
    <p:sldId id="263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B49D25-95A4-C56D-9CE6-C084185E985A}" v="667" dt="2025-12-08T04:13:09.779"/>
    <p1510:client id="{909C071C-8571-CA5D-458E-2BFE12571764}" v="120" dt="2025-12-08T05:42:32.652"/>
    <p1510:client id="{A9804D3B-C728-1E44-9028-51D28CB98171}" v="246" dt="2025-12-08T05:43:30.255"/>
  </p1510:revLst>
</p1510:revInfo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880"/>
    <p:restoredTop sz="94671"/>
  </p:normalViewPr>
  <p:slideViewPr>
    <p:cSldViewPr snapToGrid="0">
      <p:cViewPr varScale="1">
        <p:scale>
          <a:sx n="156" d="100"/>
          <a:sy n="156" d="100"/>
        </p:scale>
        <p:origin x="216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4" Type="http://schemas.openxmlformats.org/officeDocument/2006/relationships/image" Target="../media/image1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coloredtext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1">
        <a:alpha val="0"/>
      </a:schemeClr>
    </dgm:fillClrLst>
    <dgm:linClrLst meth="repeat">
      <a:schemeClr val="accent1">
        <a:alpha val="0"/>
      </a:schemeClr>
    </dgm:linClrLst>
    <dgm:effectClrLst/>
    <dgm:txLinClrLst/>
    <dgm:txFillClrLst meth="repeat">
      <a:schemeClr val="accent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1E342E4-4687-4C70-BBFB-296917986410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accent1_2" csCatId="accent1" phldr="1"/>
      <dgm:spPr/>
      <dgm:t>
        <a:bodyPr/>
        <a:lstStyle/>
        <a:p>
          <a:endParaRPr lang="en-US"/>
        </a:p>
      </dgm:t>
    </dgm:pt>
    <dgm:pt modelId="{9F6DC3F9-753D-4FB1-9F0B-7404C953E71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 kern="1200"/>
            <a:t>Meta-Model:</a:t>
          </a:r>
          <a:r>
            <a:rPr lang="en-US" kern="1200"/>
            <a:t> </a:t>
          </a:r>
          <a:r>
            <a:rPr lang="en-US" b="1" kern="1200">
              <a:latin typeface="Walbaum Display"/>
            </a:rPr>
            <a:t>96.1%</a:t>
          </a:r>
          <a:r>
            <a:rPr lang="en-US" b="1" kern="1200"/>
            <a:t> </a:t>
          </a:r>
          <a:r>
            <a:rPr lang="en-US" b="1" kern="1200">
              <a:latin typeface="+mn-lt"/>
              <a:ea typeface="+mn-ea"/>
              <a:cs typeface="+mn-cs"/>
            </a:rPr>
            <a:t>Accuracy</a:t>
          </a:r>
        </a:p>
      </dgm:t>
    </dgm:pt>
    <dgm:pt modelId="{D1A1750E-1067-453B-91BE-21DBE2430602}" type="parTrans" cxnId="{56243C15-D391-4C0F-AC40-ED4603C525F9}">
      <dgm:prSet/>
      <dgm:spPr/>
      <dgm:t>
        <a:bodyPr/>
        <a:lstStyle/>
        <a:p>
          <a:endParaRPr lang="en-US"/>
        </a:p>
      </dgm:t>
    </dgm:pt>
    <dgm:pt modelId="{E75C832C-5909-44BC-BD45-B5A9D21B20A4}" type="sibTrans" cxnId="{56243C15-D391-4C0F-AC40-ED4603C525F9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633A208C-F3DA-421F-833E-000549FCFBA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Base Models:</a:t>
          </a:r>
          <a:r>
            <a:rPr lang="en-US"/>
            <a:t> RF: </a:t>
          </a:r>
          <a:r>
            <a:rPr lang="en-US">
              <a:latin typeface="Walbaum Display"/>
            </a:rPr>
            <a:t>16.28%</a:t>
          </a:r>
          <a:r>
            <a:rPr lang="en-US"/>
            <a:t> | GB: </a:t>
          </a:r>
          <a:r>
            <a:rPr lang="en-US">
              <a:latin typeface="Walbaum Display"/>
            </a:rPr>
            <a:t>27.13%</a:t>
          </a:r>
          <a:r>
            <a:rPr lang="en-US"/>
            <a:t> | LR: </a:t>
          </a:r>
          <a:r>
            <a:rPr lang="en-US">
              <a:latin typeface="Walbaum Display"/>
            </a:rPr>
            <a:t>68.22%</a:t>
          </a:r>
          <a:endParaRPr lang="en-US"/>
        </a:p>
      </dgm:t>
    </dgm:pt>
    <dgm:pt modelId="{76888D6B-6A3F-40E1-BC67-066FD230C0CB}" type="parTrans" cxnId="{A013567F-EA43-4980-8282-F8B8B1708F93}">
      <dgm:prSet/>
      <dgm:spPr/>
      <dgm:t>
        <a:bodyPr/>
        <a:lstStyle/>
        <a:p>
          <a:endParaRPr lang="en-US"/>
        </a:p>
      </dgm:t>
    </dgm:pt>
    <dgm:pt modelId="{EF980AB9-1940-4CE2-8B86-9D54D3FC4223}" type="sibTrans" cxnId="{A013567F-EA43-4980-8282-F8B8B1708F93}">
      <dgm:prSet/>
      <dgm:spPr/>
      <dgm:t>
        <a:bodyPr/>
        <a:lstStyle/>
        <a:p>
          <a:endParaRPr lang="en-US"/>
        </a:p>
      </dgm:t>
    </dgm:pt>
    <dgm:pt modelId="{A16FDB43-CB4B-471B-B5A3-24A0EB9FABFF}" type="pres">
      <dgm:prSet presAssocID="{31E342E4-4687-4C70-BBFB-296917986410}" presName="root" presStyleCnt="0">
        <dgm:presLayoutVars>
          <dgm:dir/>
          <dgm:resizeHandles val="exact"/>
        </dgm:presLayoutVars>
      </dgm:prSet>
      <dgm:spPr/>
    </dgm:pt>
    <dgm:pt modelId="{0796AB63-D47C-410C-B228-9FFF9EA61F3F}" type="pres">
      <dgm:prSet presAssocID="{31E342E4-4687-4C70-BBFB-296917986410}" presName="container" presStyleCnt="0">
        <dgm:presLayoutVars>
          <dgm:dir/>
          <dgm:resizeHandles val="exact"/>
        </dgm:presLayoutVars>
      </dgm:prSet>
      <dgm:spPr/>
    </dgm:pt>
    <dgm:pt modelId="{7F9C89D2-76C0-4112-AB90-78C8C2CC2564}" type="pres">
      <dgm:prSet presAssocID="{9F6DC3F9-753D-4FB1-9F0B-7404C953E71D}" presName="compNode" presStyleCnt="0"/>
      <dgm:spPr/>
    </dgm:pt>
    <dgm:pt modelId="{A1DA126E-486E-4185-9BBF-B0343118B216}" type="pres">
      <dgm:prSet presAssocID="{9F6DC3F9-753D-4FB1-9F0B-7404C953E71D}" presName="iconBgRect" presStyleLbl="bgShp" presStyleIdx="0" presStyleCnt="2"/>
      <dgm:spPr/>
    </dgm:pt>
    <dgm:pt modelId="{2A944EDB-CB2F-4A71-A8E1-98AFC854B702}" type="pres">
      <dgm:prSet presAssocID="{9F6DC3F9-753D-4FB1-9F0B-7404C953E71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622133A3-9B31-4BAC-843E-DC5F10BBC09D}" type="pres">
      <dgm:prSet presAssocID="{9F6DC3F9-753D-4FB1-9F0B-7404C953E71D}" presName="spaceRect" presStyleCnt="0"/>
      <dgm:spPr/>
    </dgm:pt>
    <dgm:pt modelId="{27A87C65-3968-493E-8E76-59F02F9A611C}" type="pres">
      <dgm:prSet presAssocID="{9F6DC3F9-753D-4FB1-9F0B-7404C953E71D}" presName="textRect" presStyleLbl="revTx" presStyleIdx="0" presStyleCnt="2">
        <dgm:presLayoutVars>
          <dgm:chMax val="1"/>
          <dgm:chPref val="1"/>
        </dgm:presLayoutVars>
      </dgm:prSet>
      <dgm:spPr/>
    </dgm:pt>
    <dgm:pt modelId="{0120FE1D-443D-4F04-A869-3E0896486E2B}" type="pres">
      <dgm:prSet presAssocID="{E75C832C-5909-44BC-BD45-B5A9D21B20A4}" presName="sibTrans" presStyleLbl="sibTrans2D1" presStyleIdx="0" presStyleCnt="0"/>
      <dgm:spPr/>
    </dgm:pt>
    <dgm:pt modelId="{663A86A5-B526-4B85-8A8B-1869CC1EBD59}" type="pres">
      <dgm:prSet presAssocID="{633A208C-F3DA-421F-833E-000549FCFBAE}" presName="compNode" presStyleCnt="0"/>
      <dgm:spPr/>
    </dgm:pt>
    <dgm:pt modelId="{7CD1CB59-A8BD-4613-B231-45E9523D5F9E}" type="pres">
      <dgm:prSet presAssocID="{633A208C-F3DA-421F-833E-000549FCFBAE}" presName="iconBgRect" presStyleLbl="bgShp" presStyleIdx="1" presStyleCnt="2"/>
      <dgm:spPr/>
    </dgm:pt>
    <dgm:pt modelId="{CD84D8CB-FD99-48AC-AE69-F57894BF9F2A}" type="pres">
      <dgm:prSet presAssocID="{633A208C-F3DA-421F-833E-000549FCFBAE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E0905595-8F4E-423B-9C5A-5FB96E08FA77}" type="pres">
      <dgm:prSet presAssocID="{633A208C-F3DA-421F-833E-000549FCFBAE}" presName="spaceRect" presStyleCnt="0"/>
      <dgm:spPr/>
    </dgm:pt>
    <dgm:pt modelId="{6D45148D-38F5-4CEB-9719-4D76E9AD4F39}" type="pres">
      <dgm:prSet presAssocID="{633A208C-F3DA-421F-833E-000549FCFBAE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6243C15-D391-4C0F-AC40-ED4603C525F9}" srcId="{31E342E4-4687-4C70-BBFB-296917986410}" destId="{9F6DC3F9-753D-4FB1-9F0B-7404C953E71D}" srcOrd="0" destOrd="0" parTransId="{D1A1750E-1067-453B-91BE-21DBE2430602}" sibTransId="{E75C832C-5909-44BC-BD45-B5A9D21B20A4}"/>
    <dgm:cxn modelId="{377A662B-D80A-2C44-9D33-63EFA696DDF1}" type="presOf" srcId="{E75C832C-5909-44BC-BD45-B5A9D21B20A4}" destId="{0120FE1D-443D-4F04-A869-3E0896486E2B}" srcOrd="0" destOrd="0" presId="urn:microsoft.com/office/officeart/2018/2/layout/IconCircleList"/>
    <dgm:cxn modelId="{A5115E4E-ED7F-7D4D-96A2-11A2B2AD36EF}" type="presOf" srcId="{9F6DC3F9-753D-4FB1-9F0B-7404C953E71D}" destId="{27A87C65-3968-493E-8E76-59F02F9A611C}" srcOrd="0" destOrd="0" presId="urn:microsoft.com/office/officeart/2018/2/layout/IconCircleList"/>
    <dgm:cxn modelId="{B8A4E24F-AC4F-1D45-93AF-64498D7BDF31}" type="presOf" srcId="{633A208C-F3DA-421F-833E-000549FCFBAE}" destId="{6D45148D-38F5-4CEB-9719-4D76E9AD4F39}" srcOrd="0" destOrd="0" presId="urn:microsoft.com/office/officeart/2018/2/layout/IconCircleList"/>
    <dgm:cxn modelId="{71B29468-B980-E74F-BDEE-8384805775C7}" type="presOf" srcId="{31E342E4-4687-4C70-BBFB-296917986410}" destId="{A16FDB43-CB4B-471B-B5A3-24A0EB9FABFF}" srcOrd="0" destOrd="0" presId="urn:microsoft.com/office/officeart/2018/2/layout/IconCircleList"/>
    <dgm:cxn modelId="{A013567F-EA43-4980-8282-F8B8B1708F93}" srcId="{31E342E4-4687-4C70-BBFB-296917986410}" destId="{633A208C-F3DA-421F-833E-000549FCFBAE}" srcOrd="1" destOrd="0" parTransId="{76888D6B-6A3F-40E1-BC67-066FD230C0CB}" sibTransId="{EF980AB9-1940-4CE2-8B86-9D54D3FC4223}"/>
    <dgm:cxn modelId="{C4122555-4E6E-614A-AE17-9FD04C621A2D}" type="presParOf" srcId="{A16FDB43-CB4B-471B-B5A3-24A0EB9FABFF}" destId="{0796AB63-D47C-410C-B228-9FFF9EA61F3F}" srcOrd="0" destOrd="0" presId="urn:microsoft.com/office/officeart/2018/2/layout/IconCircleList"/>
    <dgm:cxn modelId="{17D0EB18-FF70-AE4C-A4EB-3908887BAB64}" type="presParOf" srcId="{0796AB63-D47C-410C-B228-9FFF9EA61F3F}" destId="{7F9C89D2-76C0-4112-AB90-78C8C2CC2564}" srcOrd="0" destOrd="0" presId="urn:microsoft.com/office/officeart/2018/2/layout/IconCircleList"/>
    <dgm:cxn modelId="{86F172EA-876C-3C4F-A30E-881C9A16B431}" type="presParOf" srcId="{7F9C89D2-76C0-4112-AB90-78C8C2CC2564}" destId="{A1DA126E-486E-4185-9BBF-B0343118B216}" srcOrd="0" destOrd="0" presId="urn:microsoft.com/office/officeart/2018/2/layout/IconCircleList"/>
    <dgm:cxn modelId="{414F52D4-9217-8240-8350-40A6DDE201DB}" type="presParOf" srcId="{7F9C89D2-76C0-4112-AB90-78C8C2CC2564}" destId="{2A944EDB-CB2F-4A71-A8E1-98AFC854B702}" srcOrd="1" destOrd="0" presId="urn:microsoft.com/office/officeart/2018/2/layout/IconCircleList"/>
    <dgm:cxn modelId="{1CF22CD5-600C-1D4B-AB49-88233AB8C6AC}" type="presParOf" srcId="{7F9C89D2-76C0-4112-AB90-78C8C2CC2564}" destId="{622133A3-9B31-4BAC-843E-DC5F10BBC09D}" srcOrd="2" destOrd="0" presId="urn:microsoft.com/office/officeart/2018/2/layout/IconCircleList"/>
    <dgm:cxn modelId="{776E1614-2815-944C-A2C4-2478D59A8531}" type="presParOf" srcId="{7F9C89D2-76C0-4112-AB90-78C8C2CC2564}" destId="{27A87C65-3968-493E-8E76-59F02F9A611C}" srcOrd="3" destOrd="0" presId="urn:microsoft.com/office/officeart/2018/2/layout/IconCircleList"/>
    <dgm:cxn modelId="{015542DA-2430-1945-B8F4-47EED60B178A}" type="presParOf" srcId="{0796AB63-D47C-410C-B228-9FFF9EA61F3F}" destId="{0120FE1D-443D-4F04-A869-3E0896486E2B}" srcOrd="1" destOrd="0" presId="urn:microsoft.com/office/officeart/2018/2/layout/IconCircleList"/>
    <dgm:cxn modelId="{BE3A702C-1C89-DC49-80E7-086C4EF40F57}" type="presParOf" srcId="{0796AB63-D47C-410C-B228-9FFF9EA61F3F}" destId="{663A86A5-B526-4B85-8A8B-1869CC1EBD59}" srcOrd="2" destOrd="0" presId="urn:microsoft.com/office/officeart/2018/2/layout/IconCircleList"/>
    <dgm:cxn modelId="{B183C245-0A49-7445-BF22-60614C93698D}" type="presParOf" srcId="{663A86A5-B526-4B85-8A8B-1869CC1EBD59}" destId="{7CD1CB59-A8BD-4613-B231-45E9523D5F9E}" srcOrd="0" destOrd="0" presId="urn:microsoft.com/office/officeart/2018/2/layout/IconCircleList"/>
    <dgm:cxn modelId="{0C62F3AB-9BD7-4D49-BF3F-1F64B206C295}" type="presParOf" srcId="{663A86A5-B526-4B85-8A8B-1869CC1EBD59}" destId="{CD84D8CB-FD99-48AC-AE69-F57894BF9F2A}" srcOrd="1" destOrd="0" presId="urn:microsoft.com/office/officeart/2018/2/layout/IconCircleList"/>
    <dgm:cxn modelId="{C108A229-3417-AE48-8BB1-732E82D02A62}" type="presParOf" srcId="{663A86A5-B526-4B85-8A8B-1869CC1EBD59}" destId="{E0905595-8F4E-423B-9C5A-5FB96E08FA77}" srcOrd="2" destOrd="0" presId="urn:microsoft.com/office/officeart/2018/2/layout/IconCircleList"/>
    <dgm:cxn modelId="{BDAF6FC3-A77F-594E-B2F5-A495AAA0DEE1}" type="presParOf" srcId="{663A86A5-B526-4B85-8A8B-1869CC1EBD59}" destId="{6D45148D-38F5-4CEB-9719-4D76E9AD4F39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D6CDB07-63A3-4663-BF22-B0E918859B3D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C631CEE6-48A8-4807-A278-BC54C2E378D1}">
      <dgm:prSet/>
      <dgm:spPr/>
      <dgm:t>
        <a:bodyPr/>
        <a:lstStyle/>
        <a:p>
          <a:r>
            <a:rPr lang="en-US"/>
            <a:t>Our combined model was evaluated on 1,012 unseen companies from the test dataset.</a:t>
          </a:r>
        </a:p>
      </dgm:t>
    </dgm:pt>
    <dgm:pt modelId="{E8C461AD-0F24-4E53-8677-62A05C5E9991}" type="parTrans" cxnId="{C4CD8449-21E8-4CAD-924D-C67413CBD2D4}">
      <dgm:prSet/>
      <dgm:spPr/>
      <dgm:t>
        <a:bodyPr/>
        <a:lstStyle/>
        <a:p>
          <a:endParaRPr lang="en-US"/>
        </a:p>
      </dgm:t>
    </dgm:pt>
    <dgm:pt modelId="{F0101C99-0A2C-4CAD-8DF9-5083A78773B1}" type="sibTrans" cxnId="{C4CD8449-21E8-4CAD-924D-C67413CBD2D4}">
      <dgm:prSet/>
      <dgm:spPr/>
      <dgm:t>
        <a:bodyPr/>
        <a:lstStyle/>
        <a:p>
          <a:endParaRPr lang="en-US"/>
        </a:p>
      </dgm:t>
    </dgm:pt>
    <dgm:pt modelId="{8BD877FD-0DFB-48F3-B96E-4E604E8D1A7F}">
      <dgm:prSet/>
      <dgm:spPr/>
      <dgm:t>
        <a:bodyPr/>
        <a:lstStyle/>
        <a:p>
          <a:r>
            <a:rPr lang="en-US" b="1"/>
            <a:t>39 </a:t>
          </a:r>
          <a:r>
            <a:rPr lang="en-US"/>
            <a:t>Predicted Bankruptcies</a:t>
          </a:r>
        </a:p>
      </dgm:t>
    </dgm:pt>
    <dgm:pt modelId="{0D72A439-182C-44E1-BA91-4BBFD6554E96}" type="parTrans" cxnId="{CCE313FB-DD6C-425B-835F-07D6AF6DACDB}">
      <dgm:prSet/>
      <dgm:spPr/>
      <dgm:t>
        <a:bodyPr/>
        <a:lstStyle/>
        <a:p>
          <a:endParaRPr lang="en-US"/>
        </a:p>
      </dgm:t>
    </dgm:pt>
    <dgm:pt modelId="{6A1D92BB-9DFD-40D2-BB3C-DEAA34EA88FB}" type="sibTrans" cxnId="{CCE313FB-DD6C-425B-835F-07D6AF6DACDB}">
      <dgm:prSet/>
      <dgm:spPr/>
      <dgm:t>
        <a:bodyPr/>
        <a:lstStyle/>
        <a:p>
          <a:endParaRPr lang="en-US"/>
        </a:p>
      </dgm:t>
    </dgm:pt>
    <dgm:pt modelId="{45CFDFF7-B84E-4574-8D9F-8DFB7D7D8930}">
      <dgm:prSet/>
      <dgm:spPr/>
      <dgm:t>
        <a:bodyPr/>
        <a:lstStyle/>
        <a:p>
          <a:r>
            <a:rPr lang="en-US" b="1"/>
            <a:t>4.15% </a:t>
          </a:r>
          <a:r>
            <a:rPr lang="en-US"/>
            <a:t>Positive Prediction Rate</a:t>
          </a:r>
        </a:p>
      </dgm:t>
    </dgm:pt>
    <dgm:pt modelId="{50F62331-5664-44FE-A1C1-7C2F67A6ED9B}" type="parTrans" cxnId="{48C9D990-1E5C-4974-88D1-014FF91B6FDA}">
      <dgm:prSet/>
      <dgm:spPr/>
      <dgm:t>
        <a:bodyPr/>
        <a:lstStyle/>
        <a:p>
          <a:endParaRPr lang="en-US"/>
        </a:p>
      </dgm:t>
    </dgm:pt>
    <dgm:pt modelId="{562EADFD-3C94-40D4-B870-E0180CC5C6E8}" type="sibTrans" cxnId="{48C9D990-1E5C-4974-88D1-014FF91B6FDA}">
      <dgm:prSet/>
      <dgm:spPr/>
      <dgm:t>
        <a:bodyPr/>
        <a:lstStyle/>
        <a:p>
          <a:endParaRPr lang="en-US"/>
        </a:p>
      </dgm:t>
    </dgm:pt>
    <dgm:pt modelId="{1AA879F9-8ACF-4646-BAD6-CC747EEBFEE2}">
      <dgm:prSet/>
      <dgm:spPr/>
      <dgm:t>
        <a:bodyPr/>
        <a:lstStyle/>
        <a:p>
          <a:r>
            <a:rPr lang="en-US" b="1"/>
            <a:t>Metrics</a:t>
          </a:r>
          <a:endParaRPr lang="en-US"/>
        </a:p>
      </dgm:t>
    </dgm:pt>
    <dgm:pt modelId="{510BCAEF-DDB2-4B5A-87C8-F7A795021179}" type="parTrans" cxnId="{E247F4CC-3AB6-4EBC-965A-C771683AAAB6}">
      <dgm:prSet/>
      <dgm:spPr/>
      <dgm:t>
        <a:bodyPr/>
        <a:lstStyle/>
        <a:p>
          <a:endParaRPr lang="en-US"/>
        </a:p>
      </dgm:t>
    </dgm:pt>
    <dgm:pt modelId="{EB2C0F05-F8D2-4259-9930-5F1976FCE654}" type="sibTrans" cxnId="{E247F4CC-3AB6-4EBC-965A-C771683AAAB6}">
      <dgm:prSet/>
      <dgm:spPr/>
      <dgm:t>
        <a:bodyPr/>
        <a:lstStyle/>
        <a:p>
          <a:endParaRPr lang="en-US"/>
        </a:p>
      </dgm:t>
    </dgm:pt>
    <dgm:pt modelId="{84477948-A04B-49E8-A05D-66CDECB3A6AB}">
      <dgm:prSet/>
      <dgm:spPr/>
      <dgm:t>
        <a:bodyPr/>
        <a:lstStyle/>
        <a:p>
          <a:r>
            <a:rPr lang="en-US" b="1" i="0"/>
            <a:t>Constraint:</a:t>
          </a:r>
          <a:r>
            <a:rPr lang="en-US" i="0"/>
            <a:t> Passed (4.15% &lt; 20% threshold)</a:t>
          </a:r>
          <a:endParaRPr lang="en-US"/>
        </a:p>
      </dgm:t>
    </dgm:pt>
    <dgm:pt modelId="{7C39E9D3-5680-4AB2-8EC5-EFE7CCFC76D2}" type="parTrans" cxnId="{1AD71820-6200-4E8E-9190-3AF93E2C19FA}">
      <dgm:prSet/>
      <dgm:spPr/>
      <dgm:t>
        <a:bodyPr/>
        <a:lstStyle/>
        <a:p>
          <a:endParaRPr lang="en-US"/>
        </a:p>
      </dgm:t>
    </dgm:pt>
    <dgm:pt modelId="{2004600C-850D-4103-BBC6-D7FC4A6FA1FB}" type="sibTrans" cxnId="{1AD71820-6200-4E8E-9190-3AF93E2C19FA}">
      <dgm:prSet/>
      <dgm:spPr/>
      <dgm:t>
        <a:bodyPr/>
        <a:lstStyle/>
        <a:p>
          <a:endParaRPr lang="en-US"/>
        </a:p>
      </dgm:t>
    </dgm:pt>
    <dgm:pt modelId="{C452B62E-45EF-4F4B-9DCB-D78E45A1A257}">
      <dgm:prSet/>
      <dgm:spPr/>
      <dgm:t>
        <a:bodyPr/>
        <a:lstStyle/>
        <a:p>
          <a:r>
            <a:rPr lang="en-US" b="1" i="0"/>
            <a:t>Model Generalization:</a:t>
          </a:r>
          <a:r>
            <a:rPr lang="en-US" i="0"/>
            <a:t> Successfully applied to new data</a:t>
          </a:r>
          <a:endParaRPr lang="en-US"/>
        </a:p>
      </dgm:t>
    </dgm:pt>
    <dgm:pt modelId="{0BB23DA4-ABCE-4F8E-84A9-51940A7CA2E9}" type="parTrans" cxnId="{0BECADD0-199B-40BA-B946-614EB16EEB8B}">
      <dgm:prSet/>
      <dgm:spPr/>
      <dgm:t>
        <a:bodyPr/>
        <a:lstStyle/>
        <a:p>
          <a:endParaRPr lang="en-US"/>
        </a:p>
      </dgm:t>
    </dgm:pt>
    <dgm:pt modelId="{1314DA42-2F13-4CC8-B3E4-2FF823B3216A}" type="sibTrans" cxnId="{0BECADD0-199B-40BA-B946-614EB16EEB8B}">
      <dgm:prSet/>
      <dgm:spPr/>
      <dgm:t>
        <a:bodyPr/>
        <a:lstStyle/>
        <a:p>
          <a:endParaRPr lang="en-US"/>
        </a:p>
      </dgm:t>
    </dgm:pt>
    <dgm:pt modelId="{44014C9A-9EFB-44A5-B7E3-22011302D3E6}">
      <dgm:prSet/>
      <dgm:spPr/>
      <dgm:t>
        <a:bodyPr/>
        <a:lstStyle/>
        <a:p>
          <a:r>
            <a:rPr lang="en-US" b="1" i="0"/>
            <a:t>Balanced Approach:</a:t>
          </a:r>
          <a:r>
            <a:rPr lang="en-US" i="0"/>
            <a:t> Minimized false positives while maintaining detection capability</a:t>
          </a:r>
          <a:endParaRPr lang="en-US"/>
        </a:p>
      </dgm:t>
    </dgm:pt>
    <dgm:pt modelId="{09BE0C67-4E65-4D10-B444-733B3B489679}" type="parTrans" cxnId="{C198070C-10AF-4C71-ABD0-C9FED7CF5FFC}">
      <dgm:prSet/>
      <dgm:spPr/>
      <dgm:t>
        <a:bodyPr/>
        <a:lstStyle/>
        <a:p>
          <a:endParaRPr lang="en-US"/>
        </a:p>
      </dgm:t>
    </dgm:pt>
    <dgm:pt modelId="{88F17958-98E7-4F12-A74A-8F552A174248}" type="sibTrans" cxnId="{C198070C-10AF-4C71-ABD0-C9FED7CF5FFC}">
      <dgm:prSet/>
      <dgm:spPr/>
      <dgm:t>
        <a:bodyPr/>
        <a:lstStyle/>
        <a:p>
          <a:endParaRPr lang="en-US"/>
        </a:p>
      </dgm:t>
    </dgm:pt>
    <dgm:pt modelId="{1EB1D43D-887C-AB4A-B1F9-AFDFBACC9D7D}" type="pres">
      <dgm:prSet presAssocID="{8D6CDB07-63A3-4663-BF22-B0E918859B3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C19EF6A-1798-134F-A5F3-B22F755F5F3A}" type="pres">
      <dgm:prSet presAssocID="{C631CEE6-48A8-4807-A278-BC54C2E378D1}" presName="hierRoot1" presStyleCnt="0">
        <dgm:presLayoutVars>
          <dgm:hierBranch val="init"/>
        </dgm:presLayoutVars>
      </dgm:prSet>
      <dgm:spPr/>
    </dgm:pt>
    <dgm:pt modelId="{B5607487-80A6-F147-8FB5-DC863DC89572}" type="pres">
      <dgm:prSet presAssocID="{C631CEE6-48A8-4807-A278-BC54C2E378D1}" presName="rootComposite1" presStyleCnt="0"/>
      <dgm:spPr/>
    </dgm:pt>
    <dgm:pt modelId="{8F68E583-F1BC-874D-B056-C374822DB82A}" type="pres">
      <dgm:prSet presAssocID="{C631CEE6-48A8-4807-A278-BC54C2E378D1}" presName="rootText1" presStyleLbl="node0" presStyleIdx="0" presStyleCnt="4">
        <dgm:presLayoutVars>
          <dgm:chPref val="3"/>
        </dgm:presLayoutVars>
      </dgm:prSet>
      <dgm:spPr/>
    </dgm:pt>
    <dgm:pt modelId="{7BC2AEAB-6AE3-7744-8F97-993ACC43A6AC}" type="pres">
      <dgm:prSet presAssocID="{C631CEE6-48A8-4807-A278-BC54C2E378D1}" presName="rootConnector1" presStyleLbl="node1" presStyleIdx="0" presStyleCnt="0"/>
      <dgm:spPr/>
    </dgm:pt>
    <dgm:pt modelId="{D8977E6F-7850-E640-843D-4DBDA8743E70}" type="pres">
      <dgm:prSet presAssocID="{C631CEE6-48A8-4807-A278-BC54C2E378D1}" presName="hierChild2" presStyleCnt="0"/>
      <dgm:spPr/>
    </dgm:pt>
    <dgm:pt modelId="{573041ED-9D28-D945-B5C8-D06CE20B4670}" type="pres">
      <dgm:prSet presAssocID="{C631CEE6-48A8-4807-A278-BC54C2E378D1}" presName="hierChild3" presStyleCnt="0"/>
      <dgm:spPr/>
    </dgm:pt>
    <dgm:pt modelId="{E9C853B5-DA5C-414B-9BC5-C674F85522E3}" type="pres">
      <dgm:prSet presAssocID="{8BD877FD-0DFB-48F3-B96E-4E604E8D1A7F}" presName="hierRoot1" presStyleCnt="0">
        <dgm:presLayoutVars>
          <dgm:hierBranch val="init"/>
        </dgm:presLayoutVars>
      </dgm:prSet>
      <dgm:spPr/>
    </dgm:pt>
    <dgm:pt modelId="{5AD9D984-0980-3F4A-978B-C349E96BD572}" type="pres">
      <dgm:prSet presAssocID="{8BD877FD-0DFB-48F3-B96E-4E604E8D1A7F}" presName="rootComposite1" presStyleCnt="0"/>
      <dgm:spPr/>
    </dgm:pt>
    <dgm:pt modelId="{4C4AA8AB-C41D-FA49-B566-3D96EA61CBE0}" type="pres">
      <dgm:prSet presAssocID="{8BD877FD-0DFB-48F3-B96E-4E604E8D1A7F}" presName="rootText1" presStyleLbl="node0" presStyleIdx="1" presStyleCnt="4">
        <dgm:presLayoutVars>
          <dgm:chPref val="3"/>
        </dgm:presLayoutVars>
      </dgm:prSet>
      <dgm:spPr/>
    </dgm:pt>
    <dgm:pt modelId="{F51E35DF-61A0-AE42-896B-4F4BD5BEC1D4}" type="pres">
      <dgm:prSet presAssocID="{8BD877FD-0DFB-48F3-B96E-4E604E8D1A7F}" presName="rootConnector1" presStyleLbl="node1" presStyleIdx="0" presStyleCnt="0"/>
      <dgm:spPr/>
    </dgm:pt>
    <dgm:pt modelId="{1B835945-6FB3-9646-8351-88E5AE0B483C}" type="pres">
      <dgm:prSet presAssocID="{8BD877FD-0DFB-48F3-B96E-4E604E8D1A7F}" presName="hierChild2" presStyleCnt="0"/>
      <dgm:spPr/>
    </dgm:pt>
    <dgm:pt modelId="{E30474EF-0D12-9844-85DF-5BD68A949C12}" type="pres">
      <dgm:prSet presAssocID="{8BD877FD-0DFB-48F3-B96E-4E604E8D1A7F}" presName="hierChild3" presStyleCnt="0"/>
      <dgm:spPr/>
    </dgm:pt>
    <dgm:pt modelId="{958F9CB7-5BEE-1A46-9692-10E0A4119811}" type="pres">
      <dgm:prSet presAssocID="{45CFDFF7-B84E-4574-8D9F-8DFB7D7D8930}" presName="hierRoot1" presStyleCnt="0">
        <dgm:presLayoutVars>
          <dgm:hierBranch val="init"/>
        </dgm:presLayoutVars>
      </dgm:prSet>
      <dgm:spPr/>
    </dgm:pt>
    <dgm:pt modelId="{0AC5E734-2900-8B46-A550-910CB921B1BE}" type="pres">
      <dgm:prSet presAssocID="{45CFDFF7-B84E-4574-8D9F-8DFB7D7D8930}" presName="rootComposite1" presStyleCnt="0"/>
      <dgm:spPr/>
    </dgm:pt>
    <dgm:pt modelId="{CC16F218-BFB0-E34C-B3B1-729AABADDC8A}" type="pres">
      <dgm:prSet presAssocID="{45CFDFF7-B84E-4574-8D9F-8DFB7D7D8930}" presName="rootText1" presStyleLbl="node0" presStyleIdx="2" presStyleCnt="4">
        <dgm:presLayoutVars>
          <dgm:chPref val="3"/>
        </dgm:presLayoutVars>
      </dgm:prSet>
      <dgm:spPr/>
    </dgm:pt>
    <dgm:pt modelId="{71DBB663-3014-3846-BB0A-B280FBD6C710}" type="pres">
      <dgm:prSet presAssocID="{45CFDFF7-B84E-4574-8D9F-8DFB7D7D8930}" presName="rootConnector1" presStyleLbl="node1" presStyleIdx="0" presStyleCnt="0"/>
      <dgm:spPr/>
    </dgm:pt>
    <dgm:pt modelId="{74811F1F-EB1B-CA42-8563-90BD3BB6460A}" type="pres">
      <dgm:prSet presAssocID="{45CFDFF7-B84E-4574-8D9F-8DFB7D7D8930}" presName="hierChild2" presStyleCnt="0"/>
      <dgm:spPr/>
    </dgm:pt>
    <dgm:pt modelId="{A31794BE-0CB0-E84E-9FCC-6554C91CF9EE}" type="pres">
      <dgm:prSet presAssocID="{45CFDFF7-B84E-4574-8D9F-8DFB7D7D8930}" presName="hierChild3" presStyleCnt="0"/>
      <dgm:spPr/>
    </dgm:pt>
    <dgm:pt modelId="{14ECA6A4-B854-964D-86ED-BD97648AA29E}" type="pres">
      <dgm:prSet presAssocID="{1AA879F9-8ACF-4646-BAD6-CC747EEBFEE2}" presName="hierRoot1" presStyleCnt="0">
        <dgm:presLayoutVars>
          <dgm:hierBranch val="init"/>
        </dgm:presLayoutVars>
      </dgm:prSet>
      <dgm:spPr/>
    </dgm:pt>
    <dgm:pt modelId="{6AE3C9A0-D2CE-2348-B9FE-ECC3C7A2162E}" type="pres">
      <dgm:prSet presAssocID="{1AA879F9-8ACF-4646-BAD6-CC747EEBFEE2}" presName="rootComposite1" presStyleCnt="0"/>
      <dgm:spPr/>
    </dgm:pt>
    <dgm:pt modelId="{7398943F-FA49-0F4C-9219-9EEA6CD1F4A9}" type="pres">
      <dgm:prSet presAssocID="{1AA879F9-8ACF-4646-BAD6-CC747EEBFEE2}" presName="rootText1" presStyleLbl="node0" presStyleIdx="3" presStyleCnt="4">
        <dgm:presLayoutVars>
          <dgm:chPref val="3"/>
        </dgm:presLayoutVars>
      </dgm:prSet>
      <dgm:spPr/>
    </dgm:pt>
    <dgm:pt modelId="{24FDEE33-87DC-8C4E-B592-51814809BD8A}" type="pres">
      <dgm:prSet presAssocID="{1AA879F9-8ACF-4646-BAD6-CC747EEBFEE2}" presName="rootConnector1" presStyleLbl="node1" presStyleIdx="0" presStyleCnt="0"/>
      <dgm:spPr/>
    </dgm:pt>
    <dgm:pt modelId="{E554808A-CBBF-C342-927A-4257742222D2}" type="pres">
      <dgm:prSet presAssocID="{1AA879F9-8ACF-4646-BAD6-CC747EEBFEE2}" presName="hierChild2" presStyleCnt="0"/>
      <dgm:spPr/>
    </dgm:pt>
    <dgm:pt modelId="{9C40958B-A860-BB44-8890-BE9ACC8F1F1D}" type="pres">
      <dgm:prSet presAssocID="{7C39E9D3-5680-4AB2-8EC5-EFE7CCFC76D2}" presName="Name64" presStyleLbl="parChTrans1D2" presStyleIdx="0" presStyleCnt="3"/>
      <dgm:spPr/>
    </dgm:pt>
    <dgm:pt modelId="{18A75463-DCF9-E64B-94AE-8B8CB4694331}" type="pres">
      <dgm:prSet presAssocID="{84477948-A04B-49E8-A05D-66CDECB3A6AB}" presName="hierRoot2" presStyleCnt="0">
        <dgm:presLayoutVars>
          <dgm:hierBranch val="init"/>
        </dgm:presLayoutVars>
      </dgm:prSet>
      <dgm:spPr/>
    </dgm:pt>
    <dgm:pt modelId="{7F17D8A2-A3C0-E14C-8CAD-5F5EC6B33303}" type="pres">
      <dgm:prSet presAssocID="{84477948-A04B-49E8-A05D-66CDECB3A6AB}" presName="rootComposite" presStyleCnt="0"/>
      <dgm:spPr/>
    </dgm:pt>
    <dgm:pt modelId="{DE68BB10-E55C-5A41-8B37-E4D3F480FDA2}" type="pres">
      <dgm:prSet presAssocID="{84477948-A04B-49E8-A05D-66CDECB3A6AB}" presName="rootText" presStyleLbl="node2" presStyleIdx="0" presStyleCnt="3">
        <dgm:presLayoutVars>
          <dgm:chPref val="3"/>
        </dgm:presLayoutVars>
      </dgm:prSet>
      <dgm:spPr/>
    </dgm:pt>
    <dgm:pt modelId="{2B22BB80-DEE3-0F45-B1BE-0BE1A4E2BAF2}" type="pres">
      <dgm:prSet presAssocID="{84477948-A04B-49E8-A05D-66CDECB3A6AB}" presName="rootConnector" presStyleLbl="node2" presStyleIdx="0" presStyleCnt="3"/>
      <dgm:spPr/>
    </dgm:pt>
    <dgm:pt modelId="{87E244F0-1EE4-CA48-A95F-E58E67E5E0F9}" type="pres">
      <dgm:prSet presAssocID="{84477948-A04B-49E8-A05D-66CDECB3A6AB}" presName="hierChild4" presStyleCnt="0"/>
      <dgm:spPr/>
    </dgm:pt>
    <dgm:pt modelId="{3A7FF106-9F84-F449-9C52-E5CF6D623087}" type="pres">
      <dgm:prSet presAssocID="{84477948-A04B-49E8-A05D-66CDECB3A6AB}" presName="hierChild5" presStyleCnt="0"/>
      <dgm:spPr/>
    </dgm:pt>
    <dgm:pt modelId="{F0F1481B-61B9-0D46-ABFB-C33737722D71}" type="pres">
      <dgm:prSet presAssocID="{0BB23DA4-ABCE-4F8E-84A9-51940A7CA2E9}" presName="Name64" presStyleLbl="parChTrans1D2" presStyleIdx="1" presStyleCnt="3"/>
      <dgm:spPr/>
    </dgm:pt>
    <dgm:pt modelId="{6F8FF194-399D-5440-9273-FF7B5C9FB5A9}" type="pres">
      <dgm:prSet presAssocID="{C452B62E-45EF-4F4B-9DCB-D78E45A1A257}" presName="hierRoot2" presStyleCnt="0">
        <dgm:presLayoutVars>
          <dgm:hierBranch val="init"/>
        </dgm:presLayoutVars>
      </dgm:prSet>
      <dgm:spPr/>
    </dgm:pt>
    <dgm:pt modelId="{D7CF590A-728A-3E4D-9FF2-B37F73034418}" type="pres">
      <dgm:prSet presAssocID="{C452B62E-45EF-4F4B-9DCB-D78E45A1A257}" presName="rootComposite" presStyleCnt="0"/>
      <dgm:spPr/>
    </dgm:pt>
    <dgm:pt modelId="{8EBF29F8-3DE4-6141-AF57-1FF4192C43F6}" type="pres">
      <dgm:prSet presAssocID="{C452B62E-45EF-4F4B-9DCB-D78E45A1A257}" presName="rootText" presStyleLbl="node2" presStyleIdx="1" presStyleCnt="3">
        <dgm:presLayoutVars>
          <dgm:chPref val="3"/>
        </dgm:presLayoutVars>
      </dgm:prSet>
      <dgm:spPr/>
    </dgm:pt>
    <dgm:pt modelId="{3A0912CF-30D9-734B-A6CC-2C463AB2BD58}" type="pres">
      <dgm:prSet presAssocID="{C452B62E-45EF-4F4B-9DCB-D78E45A1A257}" presName="rootConnector" presStyleLbl="node2" presStyleIdx="1" presStyleCnt="3"/>
      <dgm:spPr/>
    </dgm:pt>
    <dgm:pt modelId="{58AF8D0C-05B4-2345-90D0-B232814DFC49}" type="pres">
      <dgm:prSet presAssocID="{C452B62E-45EF-4F4B-9DCB-D78E45A1A257}" presName="hierChild4" presStyleCnt="0"/>
      <dgm:spPr/>
    </dgm:pt>
    <dgm:pt modelId="{D62023C6-2B0A-DC42-B8CC-93234683E7E0}" type="pres">
      <dgm:prSet presAssocID="{C452B62E-45EF-4F4B-9DCB-D78E45A1A257}" presName="hierChild5" presStyleCnt="0"/>
      <dgm:spPr/>
    </dgm:pt>
    <dgm:pt modelId="{7CAAFCEA-3ED2-A045-A7ED-38E23BAE1385}" type="pres">
      <dgm:prSet presAssocID="{09BE0C67-4E65-4D10-B444-733B3B489679}" presName="Name64" presStyleLbl="parChTrans1D2" presStyleIdx="2" presStyleCnt="3"/>
      <dgm:spPr/>
    </dgm:pt>
    <dgm:pt modelId="{C0B9588C-4464-DF4E-B8C9-A8F2B4DA98E0}" type="pres">
      <dgm:prSet presAssocID="{44014C9A-9EFB-44A5-B7E3-22011302D3E6}" presName="hierRoot2" presStyleCnt="0">
        <dgm:presLayoutVars>
          <dgm:hierBranch val="init"/>
        </dgm:presLayoutVars>
      </dgm:prSet>
      <dgm:spPr/>
    </dgm:pt>
    <dgm:pt modelId="{16262132-2EC8-9E4E-B196-3736E91380BD}" type="pres">
      <dgm:prSet presAssocID="{44014C9A-9EFB-44A5-B7E3-22011302D3E6}" presName="rootComposite" presStyleCnt="0"/>
      <dgm:spPr/>
    </dgm:pt>
    <dgm:pt modelId="{ADD29A87-961C-8C44-A3D1-F97B8B33644D}" type="pres">
      <dgm:prSet presAssocID="{44014C9A-9EFB-44A5-B7E3-22011302D3E6}" presName="rootText" presStyleLbl="node2" presStyleIdx="2" presStyleCnt="3">
        <dgm:presLayoutVars>
          <dgm:chPref val="3"/>
        </dgm:presLayoutVars>
      </dgm:prSet>
      <dgm:spPr/>
    </dgm:pt>
    <dgm:pt modelId="{F9097704-4857-2043-875E-277BEBA23C08}" type="pres">
      <dgm:prSet presAssocID="{44014C9A-9EFB-44A5-B7E3-22011302D3E6}" presName="rootConnector" presStyleLbl="node2" presStyleIdx="2" presStyleCnt="3"/>
      <dgm:spPr/>
    </dgm:pt>
    <dgm:pt modelId="{C9FF1F39-8F27-464A-A97E-99D7C07591A7}" type="pres">
      <dgm:prSet presAssocID="{44014C9A-9EFB-44A5-B7E3-22011302D3E6}" presName="hierChild4" presStyleCnt="0"/>
      <dgm:spPr/>
    </dgm:pt>
    <dgm:pt modelId="{6FA73F82-645B-EC48-A75E-F87165D5C427}" type="pres">
      <dgm:prSet presAssocID="{44014C9A-9EFB-44A5-B7E3-22011302D3E6}" presName="hierChild5" presStyleCnt="0"/>
      <dgm:spPr/>
    </dgm:pt>
    <dgm:pt modelId="{228CD47B-B528-0B40-B55F-A3ABD5706A76}" type="pres">
      <dgm:prSet presAssocID="{1AA879F9-8ACF-4646-BAD6-CC747EEBFEE2}" presName="hierChild3" presStyleCnt="0"/>
      <dgm:spPr/>
    </dgm:pt>
  </dgm:ptLst>
  <dgm:cxnLst>
    <dgm:cxn modelId="{639A0F02-972E-704D-B823-DE90BBC4A613}" type="presOf" srcId="{8BD877FD-0DFB-48F3-B96E-4E604E8D1A7F}" destId="{F51E35DF-61A0-AE42-896B-4F4BD5BEC1D4}" srcOrd="1" destOrd="0" presId="urn:microsoft.com/office/officeart/2009/3/layout/HorizontalOrganizationChart"/>
    <dgm:cxn modelId="{C198070C-10AF-4C71-ABD0-C9FED7CF5FFC}" srcId="{1AA879F9-8ACF-4646-BAD6-CC747EEBFEE2}" destId="{44014C9A-9EFB-44A5-B7E3-22011302D3E6}" srcOrd="2" destOrd="0" parTransId="{09BE0C67-4E65-4D10-B444-733B3B489679}" sibTransId="{88F17958-98E7-4F12-A74A-8F552A174248}"/>
    <dgm:cxn modelId="{9CBA1115-1C71-E044-B1A3-019A14F868FC}" type="presOf" srcId="{C452B62E-45EF-4F4B-9DCB-D78E45A1A257}" destId="{3A0912CF-30D9-734B-A6CC-2C463AB2BD58}" srcOrd="1" destOrd="0" presId="urn:microsoft.com/office/officeart/2009/3/layout/HorizontalOrganizationChart"/>
    <dgm:cxn modelId="{CDC47C15-B240-FD4A-AB32-9509890C5939}" type="presOf" srcId="{45CFDFF7-B84E-4574-8D9F-8DFB7D7D8930}" destId="{CC16F218-BFB0-E34C-B3B1-729AABADDC8A}" srcOrd="0" destOrd="0" presId="urn:microsoft.com/office/officeart/2009/3/layout/HorizontalOrganizationChart"/>
    <dgm:cxn modelId="{47DD941B-BAD5-EC47-A24C-25FB614B3421}" type="presOf" srcId="{7C39E9D3-5680-4AB2-8EC5-EFE7CCFC76D2}" destId="{9C40958B-A860-BB44-8890-BE9ACC8F1F1D}" srcOrd="0" destOrd="0" presId="urn:microsoft.com/office/officeart/2009/3/layout/HorizontalOrganizationChart"/>
    <dgm:cxn modelId="{E5A6EF1D-3BCF-9C40-800E-364FBFE1D36C}" type="presOf" srcId="{44014C9A-9EFB-44A5-B7E3-22011302D3E6}" destId="{ADD29A87-961C-8C44-A3D1-F97B8B33644D}" srcOrd="0" destOrd="0" presId="urn:microsoft.com/office/officeart/2009/3/layout/HorizontalOrganizationChart"/>
    <dgm:cxn modelId="{1AD71820-6200-4E8E-9190-3AF93E2C19FA}" srcId="{1AA879F9-8ACF-4646-BAD6-CC747EEBFEE2}" destId="{84477948-A04B-49E8-A05D-66CDECB3A6AB}" srcOrd="0" destOrd="0" parTransId="{7C39E9D3-5680-4AB2-8EC5-EFE7CCFC76D2}" sibTransId="{2004600C-850D-4103-BBC6-D7FC4A6FA1FB}"/>
    <dgm:cxn modelId="{D7818A21-14AC-674B-B9CA-3AF1120A58B6}" type="presOf" srcId="{09BE0C67-4E65-4D10-B444-733B3B489679}" destId="{7CAAFCEA-3ED2-A045-A7ED-38E23BAE1385}" srcOrd="0" destOrd="0" presId="urn:microsoft.com/office/officeart/2009/3/layout/HorizontalOrganizationChart"/>
    <dgm:cxn modelId="{5797FE2D-B5E6-6844-9A6B-0ABF5284C216}" type="presOf" srcId="{45CFDFF7-B84E-4574-8D9F-8DFB7D7D8930}" destId="{71DBB663-3014-3846-BB0A-B280FBD6C710}" srcOrd="1" destOrd="0" presId="urn:microsoft.com/office/officeart/2009/3/layout/HorizontalOrganizationChart"/>
    <dgm:cxn modelId="{C4CD8449-21E8-4CAD-924D-C67413CBD2D4}" srcId="{8D6CDB07-63A3-4663-BF22-B0E918859B3D}" destId="{C631CEE6-48A8-4807-A278-BC54C2E378D1}" srcOrd="0" destOrd="0" parTransId="{E8C461AD-0F24-4E53-8677-62A05C5E9991}" sibTransId="{F0101C99-0A2C-4CAD-8DF9-5083A78773B1}"/>
    <dgm:cxn modelId="{B3F15C4A-1C30-2C4C-957D-4164A09A4E31}" type="presOf" srcId="{1AA879F9-8ACF-4646-BAD6-CC747EEBFEE2}" destId="{7398943F-FA49-0F4C-9219-9EEA6CD1F4A9}" srcOrd="0" destOrd="0" presId="urn:microsoft.com/office/officeart/2009/3/layout/HorizontalOrganizationChart"/>
    <dgm:cxn modelId="{B36AB44B-9F03-9E4E-B35E-B5AA82FD3523}" type="presOf" srcId="{8D6CDB07-63A3-4663-BF22-B0E918859B3D}" destId="{1EB1D43D-887C-AB4A-B1F9-AFDFBACC9D7D}" srcOrd="0" destOrd="0" presId="urn:microsoft.com/office/officeart/2009/3/layout/HorizontalOrganizationChart"/>
    <dgm:cxn modelId="{5F689D54-5ED4-8C4B-9197-F43927D40688}" type="presOf" srcId="{8BD877FD-0DFB-48F3-B96E-4E604E8D1A7F}" destId="{4C4AA8AB-C41D-FA49-B566-3D96EA61CBE0}" srcOrd="0" destOrd="0" presId="urn:microsoft.com/office/officeart/2009/3/layout/HorizontalOrganizationChart"/>
    <dgm:cxn modelId="{DD59325A-AE2A-9447-A569-6E675DC5531D}" type="presOf" srcId="{84477948-A04B-49E8-A05D-66CDECB3A6AB}" destId="{DE68BB10-E55C-5A41-8B37-E4D3F480FDA2}" srcOrd="0" destOrd="0" presId="urn:microsoft.com/office/officeart/2009/3/layout/HorizontalOrganizationChart"/>
    <dgm:cxn modelId="{584A7060-FFF9-CD41-96D0-E6C469DEB1EF}" type="presOf" srcId="{C631CEE6-48A8-4807-A278-BC54C2E378D1}" destId="{8F68E583-F1BC-874D-B056-C374822DB82A}" srcOrd="0" destOrd="0" presId="urn:microsoft.com/office/officeart/2009/3/layout/HorizontalOrganizationChart"/>
    <dgm:cxn modelId="{990B5983-C043-0841-8891-8C67433E0EDF}" type="presOf" srcId="{84477948-A04B-49E8-A05D-66CDECB3A6AB}" destId="{2B22BB80-DEE3-0F45-B1BE-0BE1A4E2BAF2}" srcOrd="1" destOrd="0" presId="urn:microsoft.com/office/officeart/2009/3/layout/HorizontalOrganizationChart"/>
    <dgm:cxn modelId="{03C43F85-BF5C-214C-B8D2-E85F7993AC23}" type="presOf" srcId="{44014C9A-9EFB-44A5-B7E3-22011302D3E6}" destId="{F9097704-4857-2043-875E-277BEBA23C08}" srcOrd="1" destOrd="0" presId="urn:microsoft.com/office/officeart/2009/3/layout/HorizontalOrganizationChart"/>
    <dgm:cxn modelId="{48C9D990-1E5C-4974-88D1-014FF91B6FDA}" srcId="{8D6CDB07-63A3-4663-BF22-B0E918859B3D}" destId="{45CFDFF7-B84E-4574-8D9F-8DFB7D7D8930}" srcOrd="2" destOrd="0" parTransId="{50F62331-5664-44FE-A1C1-7C2F67A6ED9B}" sibTransId="{562EADFD-3C94-40D4-B870-E0180CC5C6E8}"/>
    <dgm:cxn modelId="{648BABAF-EC00-4B47-BE35-48079DB80CBA}" type="presOf" srcId="{C631CEE6-48A8-4807-A278-BC54C2E378D1}" destId="{7BC2AEAB-6AE3-7744-8F97-993ACC43A6AC}" srcOrd="1" destOrd="0" presId="urn:microsoft.com/office/officeart/2009/3/layout/HorizontalOrganizationChart"/>
    <dgm:cxn modelId="{BAE5ABB3-896B-3849-ACE9-009DDBC1355C}" type="presOf" srcId="{C452B62E-45EF-4F4B-9DCB-D78E45A1A257}" destId="{8EBF29F8-3DE4-6141-AF57-1FF4192C43F6}" srcOrd="0" destOrd="0" presId="urn:microsoft.com/office/officeart/2009/3/layout/HorizontalOrganizationChart"/>
    <dgm:cxn modelId="{426BC0BB-8E8F-7941-AC86-979EF3FBCC63}" type="presOf" srcId="{0BB23DA4-ABCE-4F8E-84A9-51940A7CA2E9}" destId="{F0F1481B-61B9-0D46-ABFB-C33737722D71}" srcOrd="0" destOrd="0" presId="urn:microsoft.com/office/officeart/2009/3/layout/HorizontalOrganizationChart"/>
    <dgm:cxn modelId="{DA70C7C9-ACE2-BF44-9A11-188F363159CF}" type="presOf" srcId="{1AA879F9-8ACF-4646-BAD6-CC747EEBFEE2}" destId="{24FDEE33-87DC-8C4E-B592-51814809BD8A}" srcOrd="1" destOrd="0" presId="urn:microsoft.com/office/officeart/2009/3/layout/HorizontalOrganizationChart"/>
    <dgm:cxn modelId="{E247F4CC-3AB6-4EBC-965A-C771683AAAB6}" srcId="{8D6CDB07-63A3-4663-BF22-B0E918859B3D}" destId="{1AA879F9-8ACF-4646-BAD6-CC747EEBFEE2}" srcOrd="3" destOrd="0" parTransId="{510BCAEF-DDB2-4B5A-87C8-F7A795021179}" sibTransId="{EB2C0F05-F8D2-4259-9930-5F1976FCE654}"/>
    <dgm:cxn modelId="{0BECADD0-199B-40BA-B946-614EB16EEB8B}" srcId="{1AA879F9-8ACF-4646-BAD6-CC747EEBFEE2}" destId="{C452B62E-45EF-4F4B-9DCB-D78E45A1A257}" srcOrd="1" destOrd="0" parTransId="{0BB23DA4-ABCE-4F8E-84A9-51940A7CA2E9}" sibTransId="{1314DA42-2F13-4CC8-B3E4-2FF823B3216A}"/>
    <dgm:cxn modelId="{CCE313FB-DD6C-425B-835F-07D6AF6DACDB}" srcId="{8D6CDB07-63A3-4663-BF22-B0E918859B3D}" destId="{8BD877FD-0DFB-48F3-B96E-4E604E8D1A7F}" srcOrd="1" destOrd="0" parTransId="{0D72A439-182C-44E1-BA91-4BBFD6554E96}" sibTransId="{6A1D92BB-9DFD-40D2-BB3C-DEAA34EA88FB}"/>
    <dgm:cxn modelId="{99925722-C0EA-2443-8AB7-8975390F6DDA}" type="presParOf" srcId="{1EB1D43D-887C-AB4A-B1F9-AFDFBACC9D7D}" destId="{AC19EF6A-1798-134F-A5F3-B22F755F5F3A}" srcOrd="0" destOrd="0" presId="urn:microsoft.com/office/officeart/2009/3/layout/HorizontalOrganizationChart"/>
    <dgm:cxn modelId="{DF370666-0D80-AA42-B2B8-E9B203B4357D}" type="presParOf" srcId="{AC19EF6A-1798-134F-A5F3-B22F755F5F3A}" destId="{B5607487-80A6-F147-8FB5-DC863DC89572}" srcOrd="0" destOrd="0" presId="urn:microsoft.com/office/officeart/2009/3/layout/HorizontalOrganizationChart"/>
    <dgm:cxn modelId="{A39D1D82-23A4-CA43-A114-EB1382C46650}" type="presParOf" srcId="{B5607487-80A6-F147-8FB5-DC863DC89572}" destId="{8F68E583-F1BC-874D-B056-C374822DB82A}" srcOrd="0" destOrd="0" presId="urn:microsoft.com/office/officeart/2009/3/layout/HorizontalOrganizationChart"/>
    <dgm:cxn modelId="{9D5ABB9B-603D-1644-AAA6-44906D50273A}" type="presParOf" srcId="{B5607487-80A6-F147-8FB5-DC863DC89572}" destId="{7BC2AEAB-6AE3-7744-8F97-993ACC43A6AC}" srcOrd="1" destOrd="0" presId="urn:microsoft.com/office/officeart/2009/3/layout/HorizontalOrganizationChart"/>
    <dgm:cxn modelId="{BDAA5B7B-6087-4F41-BE50-5FFCC4178C46}" type="presParOf" srcId="{AC19EF6A-1798-134F-A5F3-B22F755F5F3A}" destId="{D8977E6F-7850-E640-843D-4DBDA8743E70}" srcOrd="1" destOrd="0" presId="urn:microsoft.com/office/officeart/2009/3/layout/HorizontalOrganizationChart"/>
    <dgm:cxn modelId="{B710DD6E-36ED-9F41-A962-2F5BDFFD3BF5}" type="presParOf" srcId="{AC19EF6A-1798-134F-A5F3-B22F755F5F3A}" destId="{573041ED-9D28-D945-B5C8-D06CE20B4670}" srcOrd="2" destOrd="0" presId="urn:microsoft.com/office/officeart/2009/3/layout/HorizontalOrganizationChart"/>
    <dgm:cxn modelId="{12208498-0D6A-F64A-9BE1-F2A5F0610473}" type="presParOf" srcId="{1EB1D43D-887C-AB4A-B1F9-AFDFBACC9D7D}" destId="{E9C853B5-DA5C-414B-9BC5-C674F85522E3}" srcOrd="1" destOrd="0" presId="urn:microsoft.com/office/officeart/2009/3/layout/HorizontalOrganizationChart"/>
    <dgm:cxn modelId="{27CD464F-4DEB-3A41-A05B-83C8791BD52F}" type="presParOf" srcId="{E9C853B5-DA5C-414B-9BC5-C674F85522E3}" destId="{5AD9D984-0980-3F4A-978B-C349E96BD572}" srcOrd="0" destOrd="0" presId="urn:microsoft.com/office/officeart/2009/3/layout/HorizontalOrganizationChart"/>
    <dgm:cxn modelId="{F28973F7-BBB1-5849-94F8-056DC4C33C77}" type="presParOf" srcId="{5AD9D984-0980-3F4A-978B-C349E96BD572}" destId="{4C4AA8AB-C41D-FA49-B566-3D96EA61CBE0}" srcOrd="0" destOrd="0" presId="urn:microsoft.com/office/officeart/2009/3/layout/HorizontalOrganizationChart"/>
    <dgm:cxn modelId="{B38F7989-320B-554E-816F-F5896C3054CE}" type="presParOf" srcId="{5AD9D984-0980-3F4A-978B-C349E96BD572}" destId="{F51E35DF-61A0-AE42-896B-4F4BD5BEC1D4}" srcOrd="1" destOrd="0" presId="urn:microsoft.com/office/officeart/2009/3/layout/HorizontalOrganizationChart"/>
    <dgm:cxn modelId="{F7828C85-7A78-8041-A0EA-EE1F94152FB5}" type="presParOf" srcId="{E9C853B5-DA5C-414B-9BC5-C674F85522E3}" destId="{1B835945-6FB3-9646-8351-88E5AE0B483C}" srcOrd="1" destOrd="0" presId="urn:microsoft.com/office/officeart/2009/3/layout/HorizontalOrganizationChart"/>
    <dgm:cxn modelId="{8D8A6ECA-CFEF-0B41-81DB-887CA3498D5D}" type="presParOf" srcId="{E9C853B5-DA5C-414B-9BC5-C674F85522E3}" destId="{E30474EF-0D12-9844-85DF-5BD68A949C12}" srcOrd="2" destOrd="0" presId="urn:microsoft.com/office/officeart/2009/3/layout/HorizontalOrganizationChart"/>
    <dgm:cxn modelId="{CAA33B75-D9DD-6643-AC8D-E3A349D2621D}" type="presParOf" srcId="{1EB1D43D-887C-AB4A-B1F9-AFDFBACC9D7D}" destId="{958F9CB7-5BEE-1A46-9692-10E0A4119811}" srcOrd="2" destOrd="0" presId="urn:microsoft.com/office/officeart/2009/3/layout/HorizontalOrganizationChart"/>
    <dgm:cxn modelId="{3C216FC4-32AF-2D48-BBA4-F6C152BB9EE4}" type="presParOf" srcId="{958F9CB7-5BEE-1A46-9692-10E0A4119811}" destId="{0AC5E734-2900-8B46-A550-910CB921B1BE}" srcOrd="0" destOrd="0" presId="urn:microsoft.com/office/officeart/2009/3/layout/HorizontalOrganizationChart"/>
    <dgm:cxn modelId="{C610B93F-E449-1D42-9FCA-E0C8B181B42A}" type="presParOf" srcId="{0AC5E734-2900-8B46-A550-910CB921B1BE}" destId="{CC16F218-BFB0-E34C-B3B1-729AABADDC8A}" srcOrd="0" destOrd="0" presId="urn:microsoft.com/office/officeart/2009/3/layout/HorizontalOrganizationChart"/>
    <dgm:cxn modelId="{71705B2F-5AFC-4F4B-9AE6-4B31F055558C}" type="presParOf" srcId="{0AC5E734-2900-8B46-A550-910CB921B1BE}" destId="{71DBB663-3014-3846-BB0A-B280FBD6C710}" srcOrd="1" destOrd="0" presId="urn:microsoft.com/office/officeart/2009/3/layout/HorizontalOrganizationChart"/>
    <dgm:cxn modelId="{A775EC7C-BA20-9145-A372-BEC134B53968}" type="presParOf" srcId="{958F9CB7-5BEE-1A46-9692-10E0A4119811}" destId="{74811F1F-EB1B-CA42-8563-90BD3BB6460A}" srcOrd="1" destOrd="0" presId="urn:microsoft.com/office/officeart/2009/3/layout/HorizontalOrganizationChart"/>
    <dgm:cxn modelId="{7D55157B-97AF-5841-9821-AAB6CC438CCA}" type="presParOf" srcId="{958F9CB7-5BEE-1A46-9692-10E0A4119811}" destId="{A31794BE-0CB0-E84E-9FCC-6554C91CF9EE}" srcOrd="2" destOrd="0" presId="urn:microsoft.com/office/officeart/2009/3/layout/HorizontalOrganizationChart"/>
    <dgm:cxn modelId="{492FE070-46EB-C345-BE58-FB208468880B}" type="presParOf" srcId="{1EB1D43D-887C-AB4A-B1F9-AFDFBACC9D7D}" destId="{14ECA6A4-B854-964D-86ED-BD97648AA29E}" srcOrd="3" destOrd="0" presId="urn:microsoft.com/office/officeart/2009/3/layout/HorizontalOrganizationChart"/>
    <dgm:cxn modelId="{8986AF78-ACD5-DA43-B217-768984084A38}" type="presParOf" srcId="{14ECA6A4-B854-964D-86ED-BD97648AA29E}" destId="{6AE3C9A0-D2CE-2348-B9FE-ECC3C7A2162E}" srcOrd="0" destOrd="0" presId="urn:microsoft.com/office/officeart/2009/3/layout/HorizontalOrganizationChart"/>
    <dgm:cxn modelId="{B61B45C9-454E-EC4C-AFB4-49D92931BF6A}" type="presParOf" srcId="{6AE3C9A0-D2CE-2348-B9FE-ECC3C7A2162E}" destId="{7398943F-FA49-0F4C-9219-9EEA6CD1F4A9}" srcOrd="0" destOrd="0" presId="urn:microsoft.com/office/officeart/2009/3/layout/HorizontalOrganizationChart"/>
    <dgm:cxn modelId="{653D738A-BB19-0A49-A4D5-2C0320A006B9}" type="presParOf" srcId="{6AE3C9A0-D2CE-2348-B9FE-ECC3C7A2162E}" destId="{24FDEE33-87DC-8C4E-B592-51814809BD8A}" srcOrd="1" destOrd="0" presId="urn:microsoft.com/office/officeart/2009/3/layout/HorizontalOrganizationChart"/>
    <dgm:cxn modelId="{547D8EF4-F093-F542-8D2E-C7EB8F52BC9E}" type="presParOf" srcId="{14ECA6A4-B854-964D-86ED-BD97648AA29E}" destId="{E554808A-CBBF-C342-927A-4257742222D2}" srcOrd="1" destOrd="0" presId="urn:microsoft.com/office/officeart/2009/3/layout/HorizontalOrganizationChart"/>
    <dgm:cxn modelId="{36D4C4BB-A884-3D47-960E-D5D70C289A41}" type="presParOf" srcId="{E554808A-CBBF-C342-927A-4257742222D2}" destId="{9C40958B-A860-BB44-8890-BE9ACC8F1F1D}" srcOrd="0" destOrd="0" presId="urn:microsoft.com/office/officeart/2009/3/layout/HorizontalOrganizationChart"/>
    <dgm:cxn modelId="{D0618823-31B0-5A43-A81A-630E70248A8D}" type="presParOf" srcId="{E554808A-CBBF-C342-927A-4257742222D2}" destId="{18A75463-DCF9-E64B-94AE-8B8CB4694331}" srcOrd="1" destOrd="0" presId="urn:microsoft.com/office/officeart/2009/3/layout/HorizontalOrganizationChart"/>
    <dgm:cxn modelId="{61BE9B49-E8B6-BF4D-991D-EA456EA32C5A}" type="presParOf" srcId="{18A75463-DCF9-E64B-94AE-8B8CB4694331}" destId="{7F17D8A2-A3C0-E14C-8CAD-5F5EC6B33303}" srcOrd="0" destOrd="0" presId="urn:microsoft.com/office/officeart/2009/3/layout/HorizontalOrganizationChart"/>
    <dgm:cxn modelId="{76DEECA0-DB0A-334B-ABE7-294BC9AD697A}" type="presParOf" srcId="{7F17D8A2-A3C0-E14C-8CAD-5F5EC6B33303}" destId="{DE68BB10-E55C-5A41-8B37-E4D3F480FDA2}" srcOrd="0" destOrd="0" presId="urn:microsoft.com/office/officeart/2009/3/layout/HorizontalOrganizationChart"/>
    <dgm:cxn modelId="{FE62F2D2-6BDA-AA4C-B0D2-F334D965F1E8}" type="presParOf" srcId="{7F17D8A2-A3C0-E14C-8CAD-5F5EC6B33303}" destId="{2B22BB80-DEE3-0F45-B1BE-0BE1A4E2BAF2}" srcOrd="1" destOrd="0" presId="urn:microsoft.com/office/officeart/2009/3/layout/HorizontalOrganizationChart"/>
    <dgm:cxn modelId="{6ED5A290-E885-F542-A343-A6BF47B54AD9}" type="presParOf" srcId="{18A75463-DCF9-E64B-94AE-8B8CB4694331}" destId="{87E244F0-1EE4-CA48-A95F-E58E67E5E0F9}" srcOrd="1" destOrd="0" presId="urn:microsoft.com/office/officeart/2009/3/layout/HorizontalOrganizationChart"/>
    <dgm:cxn modelId="{935E98CB-EECE-CB46-BCBA-F317D6D26705}" type="presParOf" srcId="{18A75463-DCF9-E64B-94AE-8B8CB4694331}" destId="{3A7FF106-9F84-F449-9C52-E5CF6D623087}" srcOrd="2" destOrd="0" presId="urn:microsoft.com/office/officeart/2009/3/layout/HorizontalOrganizationChart"/>
    <dgm:cxn modelId="{84C23D75-BCFE-A940-9E5F-39FAE220D973}" type="presParOf" srcId="{E554808A-CBBF-C342-927A-4257742222D2}" destId="{F0F1481B-61B9-0D46-ABFB-C33737722D71}" srcOrd="2" destOrd="0" presId="urn:microsoft.com/office/officeart/2009/3/layout/HorizontalOrganizationChart"/>
    <dgm:cxn modelId="{F7BB6ABC-98AE-0A42-8ED7-844089614728}" type="presParOf" srcId="{E554808A-CBBF-C342-927A-4257742222D2}" destId="{6F8FF194-399D-5440-9273-FF7B5C9FB5A9}" srcOrd="3" destOrd="0" presId="urn:microsoft.com/office/officeart/2009/3/layout/HorizontalOrganizationChart"/>
    <dgm:cxn modelId="{84245F9F-D40E-BE47-A3CF-0562493462A9}" type="presParOf" srcId="{6F8FF194-399D-5440-9273-FF7B5C9FB5A9}" destId="{D7CF590A-728A-3E4D-9FF2-B37F73034418}" srcOrd="0" destOrd="0" presId="urn:microsoft.com/office/officeart/2009/3/layout/HorizontalOrganizationChart"/>
    <dgm:cxn modelId="{3BFFE68C-F1C1-824D-BEE1-06519A6BD86E}" type="presParOf" srcId="{D7CF590A-728A-3E4D-9FF2-B37F73034418}" destId="{8EBF29F8-3DE4-6141-AF57-1FF4192C43F6}" srcOrd="0" destOrd="0" presId="urn:microsoft.com/office/officeart/2009/3/layout/HorizontalOrganizationChart"/>
    <dgm:cxn modelId="{A59E41C3-EF93-9145-BA42-0EFC614A5BE0}" type="presParOf" srcId="{D7CF590A-728A-3E4D-9FF2-B37F73034418}" destId="{3A0912CF-30D9-734B-A6CC-2C463AB2BD58}" srcOrd="1" destOrd="0" presId="urn:microsoft.com/office/officeart/2009/3/layout/HorizontalOrganizationChart"/>
    <dgm:cxn modelId="{9CA5A0AE-26E8-A04E-830C-E87CF952F69B}" type="presParOf" srcId="{6F8FF194-399D-5440-9273-FF7B5C9FB5A9}" destId="{58AF8D0C-05B4-2345-90D0-B232814DFC49}" srcOrd="1" destOrd="0" presId="urn:microsoft.com/office/officeart/2009/3/layout/HorizontalOrganizationChart"/>
    <dgm:cxn modelId="{5ECD4D9C-308B-F64E-91FF-0FCB5AC9506D}" type="presParOf" srcId="{6F8FF194-399D-5440-9273-FF7B5C9FB5A9}" destId="{D62023C6-2B0A-DC42-B8CC-93234683E7E0}" srcOrd="2" destOrd="0" presId="urn:microsoft.com/office/officeart/2009/3/layout/HorizontalOrganizationChart"/>
    <dgm:cxn modelId="{08D1DA32-0A27-9A47-8396-9B9BE07F039E}" type="presParOf" srcId="{E554808A-CBBF-C342-927A-4257742222D2}" destId="{7CAAFCEA-3ED2-A045-A7ED-38E23BAE1385}" srcOrd="4" destOrd="0" presId="urn:microsoft.com/office/officeart/2009/3/layout/HorizontalOrganizationChart"/>
    <dgm:cxn modelId="{9C30BB9F-5778-3847-BF0A-868FA38E9F4F}" type="presParOf" srcId="{E554808A-CBBF-C342-927A-4257742222D2}" destId="{C0B9588C-4464-DF4E-B8C9-A8F2B4DA98E0}" srcOrd="5" destOrd="0" presId="urn:microsoft.com/office/officeart/2009/3/layout/HorizontalOrganizationChart"/>
    <dgm:cxn modelId="{3D0E06BB-E2A7-B242-9C34-5D28CB5DF29B}" type="presParOf" srcId="{C0B9588C-4464-DF4E-B8C9-A8F2B4DA98E0}" destId="{16262132-2EC8-9E4E-B196-3736E91380BD}" srcOrd="0" destOrd="0" presId="urn:microsoft.com/office/officeart/2009/3/layout/HorizontalOrganizationChart"/>
    <dgm:cxn modelId="{AFDF6C0F-9512-D644-B8D0-28BD008D296B}" type="presParOf" srcId="{16262132-2EC8-9E4E-B196-3736E91380BD}" destId="{ADD29A87-961C-8C44-A3D1-F97B8B33644D}" srcOrd="0" destOrd="0" presId="urn:microsoft.com/office/officeart/2009/3/layout/HorizontalOrganizationChart"/>
    <dgm:cxn modelId="{C04EE5F4-4EC9-D24F-8FAD-ED2FACA8E85E}" type="presParOf" srcId="{16262132-2EC8-9E4E-B196-3736E91380BD}" destId="{F9097704-4857-2043-875E-277BEBA23C08}" srcOrd="1" destOrd="0" presId="urn:microsoft.com/office/officeart/2009/3/layout/HorizontalOrganizationChart"/>
    <dgm:cxn modelId="{83B3F005-1B25-8648-B952-9749CAC2C6A4}" type="presParOf" srcId="{C0B9588C-4464-DF4E-B8C9-A8F2B4DA98E0}" destId="{C9FF1F39-8F27-464A-A97E-99D7C07591A7}" srcOrd="1" destOrd="0" presId="urn:microsoft.com/office/officeart/2009/3/layout/HorizontalOrganizationChart"/>
    <dgm:cxn modelId="{40E55ED3-9395-654F-A207-A897AB8CFBF7}" type="presParOf" srcId="{C0B9588C-4464-DF4E-B8C9-A8F2B4DA98E0}" destId="{6FA73F82-645B-EC48-A75E-F87165D5C427}" srcOrd="2" destOrd="0" presId="urn:microsoft.com/office/officeart/2009/3/layout/HorizontalOrganizationChart"/>
    <dgm:cxn modelId="{A22415C5-724E-2447-B13B-4994A6279406}" type="presParOf" srcId="{14ECA6A4-B854-964D-86ED-BD97648AA29E}" destId="{228CD47B-B528-0B40-B55F-A3ABD5706A76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DA126E-486E-4185-9BBF-B0343118B216}">
      <dsp:nvSpPr>
        <dsp:cNvPr id="0" name=""/>
        <dsp:cNvSpPr/>
      </dsp:nvSpPr>
      <dsp:spPr>
        <a:xfrm>
          <a:off x="84207" y="2340889"/>
          <a:ext cx="898522" cy="8985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944EDB-CB2F-4A71-A8E1-98AFC854B702}">
      <dsp:nvSpPr>
        <dsp:cNvPr id="0" name=""/>
        <dsp:cNvSpPr/>
      </dsp:nvSpPr>
      <dsp:spPr>
        <a:xfrm>
          <a:off x="272897" y="2529579"/>
          <a:ext cx="521143" cy="52114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A87C65-3968-493E-8E76-59F02F9A611C}">
      <dsp:nvSpPr>
        <dsp:cNvPr id="0" name=""/>
        <dsp:cNvSpPr/>
      </dsp:nvSpPr>
      <dsp:spPr>
        <a:xfrm>
          <a:off x="1175270" y="2340889"/>
          <a:ext cx="2117945" cy="898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Meta-Model:</a:t>
          </a:r>
          <a:r>
            <a:rPr lang="en-US" sz="1700" kern="1200"/>
            <a:t> </a:t>
          </a:r>
          <a:r>
            <a:rPr lang="en-US" sz="1700" b="1" kern="1200">
              <a:latin typeface="Walbaum Display"/>
            </a:rPr>
            <a:t>96.1%</a:t>
          </a:r>
          <a:r>
            <a:rPr lang="en-US" sz="1700" b="1" kern="1200"/>
            <a:t> </a:t>
          </a:r>
          <a:r>
            <a:rPr lang="en-US" sz="1700" b="1" kern="1200">
              <a:latin typeface="+mn-lt"/>
              <a:ea typeface="+mn-ea"/>
              <a:cs typeface="+mn-cs"/>
            </a:rPr>
            <a:t>Accuracy</a:t>
          </a:r>
        </a:p>
      </dsp:txBody>
      <dsp:txXfrm>
        <a:off x="1175270" y="2340889"/>
        <a:ext cx="2117945" cy="898522"/>
      </dsp:txXfrm>
    </dsp:sp>
    <dsp:sp modelId="{7CD1CB59-A8BD-4613-B231-45E9523D5F9E}">
      <dsp:nvSpPr>
        <dsp:cNvPr id="0" name=""/>
        <dsp:cNvSpPr/>
      </dsp:nvSpPr>
      <dsp:spPr>
        <a:xfrm>
          <a:off x="3662251" y="2340889"/>
          <a:ext cx="898522" cy="898522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D84D8CB-FD99-48AC-AE69-F57894BF9F2A}">
      <dsp:nvSpPr>
        <dsp:cNvPr id="0" name=""/>
        <dsp:cNvSpPr/>
      </dsp:nvSpPr>
      <dsp:spPr>
        <a:xfrm>
          <a:off x="3850941" y="2529579"/>
          <a:ext cx="521143" cy="52114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45148D-38F5-4CEB-9719-4D76E9AD4F39}">
      <dsp:nvSpPr>
        <dsp:cNvPr id="0" name=""/>
        <dsp:cNvSpPr/>
      </dsp:nvSpPr>
      <dsp:spPr>
        <a:xfrm>
          <a:off x="4753314" y="2340889"/>
          <a:ext cx="2117945" cy="8985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Base Models:</a:t>
          </a:r>
          <a:r>
            <a:rPr lang="en-US" sz="1700" kern="1200"/>
            <a:t> RF: </a:t>
          </a:r>
          <a:r>
            <a:rPr lang="en-US" sz="1700" kern="1200">
              <a:latin typeface="Walbaum Display"/>
            </a:rPr>
            <a:t>16.28%</a:t>
          </a:r>
          <a:r>
            <a:rPr lang="en-US" sz="1700" kern="1200"/>
            <a:t> | GB: </a:t>
          </a:r>
          <a:r>
            <a:rPr lang="en-US" sz="1700" kern="1200">
              <a:latin typeface="Walbaum Display"/>
            </a:rPr>
            <a:t>27.13%</a:t>
          </a:r>
          <a:r>
            <a:rPr lang="en-US" sz="1700" kern="1200"/>
            <a:t> | LR: </a:t>
          </a:r>
          <a:r>
            <a:rPr lang="en-US" sz="1700" kern="1200">
              <a:latin typeface="Walbaum Display"/>
            </a:rPr>
            <a:t>68.22%</a:t>
          </a:r>
          <a:endParaRPr lang="en-US" sz="1700" kern="1200"/>
        </a:p>
      </dsp:txBody>
      <dsp:txXfrm>
        <a:off x="4753314" y="2340889"/>
        <a:ext cx="2117945" cy="89852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AFCEA-3ED2-A045-A7ED-38E23BAE1385}">
      <dsp:nvSpPr>
        <dsp:cNvPr id="0" name=""/>
        <dsp:cNvSpPr/>
      </dsp:nvSpPr>
      <dsp:spPr>
        <a:xfrm>
          <a:off x="2460948" y="3439018"/>
          <a:ext cx="476440" cy="10243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8220" y="0"/>
              </a:lnTo>
              <a:lnTo>
                <a:pt x="238220" y="1024346"/>
              </a:lnTo>
              <a:lnTo>
                <a:pt x="476440" y="1024346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F1481B-61B9-0D46-ABFB-C33737722D71}">
      <dsp:nvSpPr>
        <dsp:cNvPr id="0" name=""/>
        <dsp:cNvSpPr/>
      </dsp:nvSpPr>
      <dsp:spPr>
        <a:xfrm>
          <a:off x="2460948" y="3393298"/>
          <a:ext cx="476440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76440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C40958B-A860-BB44-8890-BE9ACC8F1F1D}">
      <dsp:nvSpPr>
        <dsp:cNvPr id="0" name=""/>
        <dsp:cNvSpPr/>
      </dsp:nvSpPr>
      <dsp:spPr>
        <a:xfrm>
          <a:off x="2460948" y="2414672"/>
          <a:ext cx="476440" cy="1024346"/>
        </a:xfrm>
        <a:custGeom>
          <a:avLst/>
          <a:gdLst/>
          <a:ahLst/>
          <a:cxnLst/>
          <a:rect l="0" t="0" r="0" b="0"/>
          <a:pathLst>
            <a:path>
              <a:moveTo>
                <a:pt x="0" y="1024346"/>
              </a:moveTo>
              <a:lnTo>
                <a:pt x="238220" y="1024346"/>
              </a:lnTo>
              <a:lnTo>
                <a:pt x="238220" y="0"/>
              </a:lnTo>
              <a:lnTo>
                <a:pt x="476440" y="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68E583-F1BC-874D-B056-C374822DB82A}">
      <dsp:nvSpPr>
        <dsp:cNvPr id="0" name=""/>
        <dsp:cNvSpPr/>
      </dsp:nvSpPr>
      <dsp:spPr>
        <a:xfrm>
          <a:off x="78747" y="2694"/>
          <a:ext cx="2382200" cy="726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Our combined model was evaluated on 1,012 unseen companies from the test dataset.</a:t>
          </a:r>
        </a:p>
      </dsp:txBody>
      <dsp:txXfrm>
        <a:off x="78747" y="2694"/>
        <a:ext cx="2382200" cy="726571"/>
      </dsp:txXfrm>
    </dsp:sp>
    <dsp:sp modelId="{4C4AA8AB-C41D-FA49-B566-3D96EA61CBE0}">
      <dsp:nvSpPr>
        <dsp:cNvPr id="0" name=""/>
        <dsp:cNvSpPr/>
      </dsp:nvSpPr>
      <dsp:spPr>
        <a:xfrm>
          <a:off x="78747" y="1027040"/>
          <a:ext cx="2382200" cy="726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39 </a:t>
          </a:r>
          <a:r>
            <a:rPr lang="en-US" sz="1100" kern="1200"/>
            <a:t>Predicted Bankruptcies</a:t>
          </a:r>
        </a:p>
      </dsp:txBody>
      <dsp:txXfrm>
        <a:off x="78747" y="1027040"/>
        <a:ext cx="2382200" cy="726571"/>
      </dsp:txXfrm>
    </dsp:sp>
    <dsp:sp modelId="{CC16F218-BFB0-E34C-B3B1-729AABADDC8A}">
      <dsp:nvSpPr>
        <dsp:cNvPr id="0" name=""/>
        <dsp:cNvSpPr/>
      </dsp:nvSpPr>
      <dsp:spPr>
        <a:xfrm>
          <a:off x="78747" y="2051386"/>
          <a:ext cx="2382200" cy="726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4.15% </a:t>
          </a:r>
          <a:r>
            <a:rPr lang="en-US" sz="1100" kern="1200"/>
            <a:t>Positive Prediction Rate</a:t>
          </a:r>
        </a:p>
      </dsp:txBody>
      <dsp:txXfrm>
        <a:off x="78747" y="2051386"/>
        <a:ext cx="2382200" cy="726571"/>
      </dsp:txXfrm>
    </dsp:sp>
    <dsp:sp modelId="{7398943F-FA49-0F4C-9219-9EEA6CD1F4A9}">
      <dsp:nvSpPr>
        <dsp:cNvPr id="0" name=""/>
        <dsp:cNvSpPr/>
      </dsp:nvSpPr>
      <dsp:spPr>
        <a:xfrm>
          <a:off x="78747" y="3075733"/>
          <a:ext cx="2382200" cy="72657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kern="1200"/>
            <a:t>Metrics</a:t>
          </a:r>
          <a:endParaRPr lang="en-US" sz="1100" kern="1200"/>
        </a:p>
      </dsp:txBody>
      <dsp:txXfrm>
        <a:off x="78747" y="3075733"/>
        <a:ext cx="2382200" cy="726571"/>
      </dsp:txXfrm>
    </dsp:sp>
    <dsp:sp modelId="{DE68BB10-E55C-5A41-8B37-E4D3F480FDA2}">
      <dsp:nvSpPr>
        <dsp:cNvPr id="0" name=""/>
        <dsp:cNvSpPr/>
      </dsp:nvSpPr>
      <dsp:spPr>
        <a:xfrm>
          <a:off x="2937388" y="2051386"/>
          <a:ext cx="2382200" cy="7265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Constraint:</a:t>
          </a:r>
          <a:r>
            <a:rPr lang="en-US" sz="1100" i="0" kern="1200"/>
            <a:t> Passed (4.15% &lt; 20% threshold)</a:t>
          </a:r>
          <a:endParaRPr lang="en-US" sz="1100" kern="1200"/>
        </a:p>
      </dsp:txBody>
      <dsp:txXfrm>
        <a:off x="2937388" y="2051386"/>
        <a:ext cx="2382200" cy="726571"/>
      </dsp:txXfrm>
    </dsp:sp>
    <dsp:sp modelId="{8EBF29F8-3DE4-6141-AF57-1FF4192C43F6}">
      <dsp:nvSpPr>
        <dsp:cNvPr id="0" name=""/>
        <dsp:cNvSpPr/>
      </dsp:nvSpPr>
      <dsp:spPr>
        <a:xfrm>
          <a:off x="2937388" y="3075733"/>
          <a:ext cx="2382200" cy="7265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Model Generalization:</a:t>
          </a:r>
          <a:r>
            <a:rPr lang="en-US" sz="1100" i="0" kern="1200"/>
            <a:t> Successfully applied to new data</a:t>
          </a:r>
          <a:endParaRPr lang="en-US" sz="1100" kern="1200"/>
        </a:p>
      </dsp:txBody>
      <dsp:txXfrm>
        <a:off x="2937388" y="3075733"/>
        <a:ext cx="2382200" cy="726571"/>
      </dsp:txXfrm>
    </dsp:sp>
    <dsp:sp modelId="{ADD29A87-961C-8C44-A3D1-F97B8B33644D}">
      <dsp:nvSpPr>
        <dsp:cNvPr id="0" name=""/>
        <dsp:cNvSpPr/>
      </dsp:nvSpPr>
      <dsp:spPr>
        <a:xfrm>
          <a:off x="2937388" y="4100079"/>
          <a:ext cx="2382200" cy="72657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b="1" i="0" kern="1200"/>
            <a:t>Balanced Approach:</a:t>
          </a:r>
          <a:r>
            <a:rPr lang="en-US" sz="1100" i="0" kern="1200"/>
            <a:t> Minimized false positives while maintaining detection capability</a:t>
          </a:r>
          <a:endParaRPr lang="en-US" sz="1100" kern="1200"/>
        </a:p>
      </dsp:txBody>
      <dsp:txXfrm>
        <a:off x="2937388" y="4100079"/>
        <a:ext cx="2382200" cy="726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FCBBA-905A-4FD1-BFBA-F3EE6DA264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81098"/>
            <a:ext cx="8986580" cy="2832404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48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DD287E-F1C8-463F-8429-D1B5B15825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5463522"/>
            <a:ext cx="8986580" cy="650311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1F44ED-7973-4A99-B2CA-A8962BCE0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DF96F2-D6BE-49AC-A605-5AE87C3F2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7FC50-B13C-4B63-AE64-F71A6EDE6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C75A547-BCD1-42BE-966E-53CA0AB93165}"/>
              </a:ext>
            </a:extLst>
          </p:cNvPr>
          <p:cNvCxnSpPr>
            <a:cxnSpLocks/>
          </p:cNvCxnSpPr>
          <p:nvPr/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14379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ECD6F3-88F1-4195-8395-57AA096B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8D06C-EB08-40B3-AFB3-A62F441122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03962F-B413-4C4C-A490-724DDB9E7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871813-4E87-4C04-835D-76246010B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922BA3-033C-491E-A045-F0052AC19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0687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FE19AD-2EDD-4B4F-9F9E-46A4441847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709738"/>
            <a:ext cx="8520952" cy="2852737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EE5927-21D5-4EBA-A112-CAD1BD38BC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4589466"/>
            <a:ext cx="8520952" cy="81326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F0D16-9D87-4D76-A5A5-534E24B7D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5F387-5AAC-45D0-ABCE-B1CF4BC7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8AF6FE-0006-4F40-A7FB-E0FDBADF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9370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E8AADE-587E-4574-B21B-7ABDE5A2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F9DA5-4DFB-4211-A58A-FFD842C27A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43000" y="2339501"/>
            <a:ext cx="4798979" cy="35505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A99F26-66AF-4614-91CE-C93A24BAC2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50020" y="2339501"/>
            <a:ext cx="4798980" cy="35505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8F678E-59B5-4DF9-ABCB-506B9CB70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50A53-317B-444A-9BA2-F69CDBF5DA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269A1-B0FB-4C8F-B6AA-0718C92D3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7296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2BBBF-42B2-4A5D-B145-46983A53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33272"/>
            <a:ext cx="9905999" cy="84630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04BE44-5271-4B5D-B649-35E3AF20B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2999" y="2067127"/>
            <a:ext cx="4798980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7891E-0C0A-4688-97DD-C0715E3221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43001" y="2864795"/>
            <a:ext cx="4798978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5EAF30-3412-49B0-93D1-596CC2695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0018" y="2067127"/>
            <a:ext cx="4798981" cy="710119"/>
          </a:xfrm>
        </p:spPr>
        <p:txBody>
          <a:bodyPr anchor="b">
            <a:normAutofit/>
          </a:bodyPr>
          <a:lstStyle>
            <a:lvl1pPr marL="0" indent="0">
              <a:buNone/>
              <a:defRPr sz="2000" b="0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707B9B7-F41C-4314-9F0C-BB84547FB8C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0019" y="2864795"/>
            <a:ext cx="4798982" cy="30253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421587F-6AFC-4906-86EB-6B0A86EE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4BE2C5-583B-49BC-9864-B01EEF798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B39B236-45F5-4CC6-8D53-A6903A1CC8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5548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B206-0678-4577-B79F-760526A5F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9300" y="1322615"/>
            <a:ext cx="8175171" cy="421277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D5FCB8-AFD3-4801-BBD6-9548F4CF7C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F6DACF8-CBC0-416B-B28E-EE18C4238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0C7421-FF49-4CE9-87D0-2B4FFE0E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92178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D19CBFE-15AA-4447-9F9C-D8B0BEB2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B48227-EC1E-4063-9682-891A2DB1A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2C6A63-C3F4-4563-A542-9A41AC946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273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900C1-FE18-461C-801C-8626C7759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0"/>
            <a:ext cx="3932237" cy="1964986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14CFF3-3406-49E3-9D5A-1BE90FFA5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27451" y="987425"/>
            <a:ext cx="5421548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3D14FF-9082-4BBA-BC7A-F4C5B78599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62464"/>
            <a:ext cx="3932237" cy="2206523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5A2726-EB8E-4DF7-9A1B-F03BD8C71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929BE-611C-4FE6-B0A5-E0FF9DF96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B90B32-1D0E-4BCD-8850-59EA235F7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662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CA1460E-1069-4FCA-B04E-28F77C8610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13614" y="987425"/>
            <a:ext cx="5535386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38C1E-867B-4FE9-8783-9B1246AEB7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3000" y="3657601"/>
            <a:ext cx="3932236" cy="2211388"/>
          </a:xfrm>
        </p:spPr>
        <p:txBody>
          <a:bodyPr/>
          <a:lstStyle>
            <a:lvl1pPr marL="0" indent="0">
              <a:buNone/>
              <a:defRPr sz="16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721568-4870-46F2-9F7E-F41070201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B3CC65-0E73-45A1-9D4F-3F4559B3B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8C58CD-9BC3-431E-A7B4-D596A7F06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68F756-D171-474C-8B1A-C818032F6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600201"/>
            <a:ext cx="3932236" cy="1959428"/>
          </a:xfrm>
        </p:spPr>
        <p:txBody>
          <a:bodyPr anchor="b">
            <a:normAutofit/>
          </a:bodyPr>
          <a:lstStyle>
            <a:lvl1pPr>
              <a:lnSpc>
                <a:spcPct val="110000"/>
              </a:lnSpc>
              <a:defRPr sz="2400" cap="all" spc="300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084759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A3BF2-BCE9-47D7-B1C0-1F0E4936B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2722E9-C3E4-48AF-996A-495AE659F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9E516-382B-4845-93BF-20C16EE0D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96E16-F168-442A-843C-5D490D54B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61BEA-A969-437A-BD8B-CB1B709AD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297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6528449-3E11-45FF-BF3A-651867603E7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572500" y="870625"/>
            <a:ext cx="2476499" cy="502920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C0EAB0-2DFA-4CBA-86B1-1826EF523D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43000" y="870625"/>
            <a:ext cx="7324928" cy="5029201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A22F89-E1F5-45D7-945A-8A2886C4B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ADBD16-5BFB-4D9F-9646-C75D1B53BBB6}" type="datetimeFigureOut">
              <a:rPr lang="en-US" smtClean="0"/>
              <a:t>12/7/25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E7E82-5FB8-4289-AD0C-0BA788E147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5A4046-1A2C-41F5-A177-1C3919C20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22274-0FAA-4649-AA4E-4210F4F321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3226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1C2F78B-DEE8-4195-A196-DFC51BDADFF9}"/>
              </a:ext>
            </a:extLst>
          </p:cNvPr>
          <p:cNvSpPr/>
          <p:nvPr/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1D79D08-4BE8-4799-BE09-5078DFEE2256}"/>
              </a:ext>
            </a:extLst>
          </p:cNvPr>
          <p:cNvSpPr/>
          <p:nvPr/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95D65A1-16CB-407F-993F-2A6D59BCC0C8}"/>
              </a:ext>
            </a:extLst>
          </p:cNvPr>
          <p:cNvCxnSpPr>
            <a:cxnSpLocks/>
          </p:cNvCxnSpPr>
          <p:nvPr/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BA018A2-815D-41B0-A189-FDF7A5E888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5"/>
            <a:ext cx="9905999" cy="13608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DFAE63-1276-4C7C-BFF5-F5DF1CDB23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332026"/>
            <a:ext cx="9905999" cy="35671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80268-2D73-487C-843B-51648AE181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88157" y="6356350"/>
            <a:ext cx="309339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3CADBD16-5BFB-4D9F-9646-C75D1B53BBB6}" type="datetimeFigureOut">
              <a:rPr lang="en-US" smtClean="0"/>
              <a:pPr/>
              <a:t>12/7/25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F61E6D-D51F-4BD7-B59D-19AF179177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43000" y="6356350"/>
            <a:ext cx="395915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701B1-1C93-41C2-AEE1-815DEA51B9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3186" y="6356350"/>
            <a:ext cx="62581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</a:defRPr>
            </a:lvl1pPr>
          </a:lstStyle>
          <a:p>
            <a:fld id="{C0722274-0FAA-4649-AA4E-4210F4F32167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584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66" r:id="rId3"/>
    <p:sldLayoutId id="2147483767" r:id="rId4"/>
    <p:sldLayoutId id="2147483768" r:id="rId5"/>
    <p:sldLayoutId id="2147483774" r:id="rId6"/>
    <p:sldLayoutId id="2147483769" r:id="rId7"/>
    <p:sldLayoutId id="2147483770" r:id="rId8"/>
    <p:sldLayoutId id="2147483771" r:id="rId9"/>
    <p:sldLayoutId id="2147483773" r:id="rId10"/>
    <p:sldLayoutId id="214748377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8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502920" indent="0" algn="l" defTabSz="914400" rtl="0" eaLnBrk="1" latinLnBrk="0" hangingPunct="1">
        <a:lnSpc>
          <a:spcPct val="120000"/>
        </a:lnSpc>
        <a:spcBef>
          <a:spcPts val="500"/>
        </a:spcBef>
        <a:buFontTx/>
        <a:buNone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73152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4" name="Rectangle 123">
            <a:extLst>
              <a:ext uri="{FF2B5EF4-FFF2-40B4-BE49-F238E27FC236}">
                <a16:creationId xmlns:a16="http://schemas.microsoft.com/office/drawing/2014/main" id="{70105F5E-5B61-4F51-927C-5B28DB7DD9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Freeform: Shape 119">
            <a:extLst>
              <a:ext uri="{FF2B5EF4-FFF2-40B4-BE49-F238E27FC236}">
                <a16:creationId xmlns:a16="http://schemas.microsoft.com/office/drawing/2014/main" id="{EC48354D-16E9-4575-B90B-6F6DE75D4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0 w 12192000"/>
              <a:gd name="connsiteY6" fmla="*/ 0 h 6858000"/>
              <a:gd name="connsiteX7" fmla="*/ 6700 w 12192000"/>
              <a:gd name="connsiteY7" fmla="*/ 0 h 6858000"/>
              <a:gd name="connsiteX8" fmla="*/ 6700 w 12192000"/>
              <a:gd name="connsiteY8" fmla="*/ 6858000 h 6858000"/>
              <a:gd name="connsiteX9" fmla="*/ 0 w 12192000"/>
              <a:gd name="connsiteY9" fmla="*/ 6858000 h 6858000"/>
              <a:gd name="connsiteX0" fmla="*/ 1132890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5318308 w 12192000"/>
              <a:gd name="connsiteY3" fmla="*/ 6858000 h 6858000"/>
              <a:gd name="connsiteX4" fmla="*/ 11328897 w 12192000"/>
              <a:gd name="connsiteY4" fmla="*/ 4 h 6858000"/>
              <a:gd name="connsiteX5" fmla="*/ 11328898 w 12192000"/>
              <a:gd name="connsiteY5" fmla="*/ 2 h 6858000"/>
              <a:gd name="connsiteX6" fmla="*/ 11328900 w 12192000"/>
              <a:gd name="connsiteY6" fmla="*/ 0 h 6858000"/>
              <a:gd name="connsiteX7" fmla="*/ 0 w 12192000"/>
              <a:gd name="connsiteY7" fmla="*/ 6858000 h 6858000"/>
              <a:gd name="connsiteX8" fmla="*/ 6700 w 12192000"/>
              <a:gd name="connsiteY8" fmla="*/ 0 h 6858000"/>
              <a:gd name="connsiteX9" fmla="*/ 6700 w 12192000"/>
              <a:gd name="connsiteY9" fmla="*/ 6858000 h 6858000"/>
              <a:gd name="connsiteX10" fmla="*/ 0 w 12192000"/>
              <a:gd name="connsiteY10" fmla="*/ 6858000 h 6858000"/>
              <a:gd name="connsiteX0" fmla="*/ 11322200 w 12185300"/>
              <a:gd name="connsiteY0" fmla="*/ 0 h 6858000"/>
              <a:gd name="connsiteX1" fmla="*/ 12185300 w 12185300"/>
              <a:gd name="connsiteY1" fmla="*/ 0 h 6858000"/>
              <a:gd name="connsiteX2" fmla="*/ 12185300 w 12185300"/>
              <a:gd name="connsiteY2" fmla="*/ 6858000 h 6858000"/>
              <a:gd name="connsiteX3" fmla="*/ 5311608 w 12185300"/>
              <a:gd name="connsiteY3" fmla="*/ 6858000 h 6858000"/>
              <a:gd name="connsiteX4" fmla="*/ 11322197 w 12185300"/>
              <a:gd name="connsiteY4" fmla="*/ 4 h 6858000"/>
              <a:gd name="connsiteX5" fmla="*/ 11322198 w 12185300"/>
              <a:gd name="connsiteY5" fmla="*/ 2 h 6858000"/>
              <a:gd name="connsiteX6" fmla="*/ 11322200 w 12185300"/>
              <a:gd name="connsiteY6" fmla="*/ 0 h 6858000"/>
              <a:gd name="connsiteX7" fmla="*/ 0 w 12185300"/>
              <a:gd name="connsiteY7" fmla="*/ 6858000 h 6858000"/>
              <a:gd name="connsiteX8" fmla="*/ 0 w 12185300"/>
              <a:gd name="connsiteY8" fmla="*/ 0 h 6858000"/>
              <a:gd name="connsiteX9" fmla="*/ 0 w 12185300"/>
              <a:gd name="connsiteY9" fmla="*/ 6858000 h 6858000"/>
              <a:gd name="connsiteX0" fmla="*/ 6010592 w 6873692"/>
              <a:gd name="connsiteY0" fmla="*/ 0 h 6858000"/>
              <a:gd name="connsiteX1" fmla="*/ 6873692 w 6873692"/>
              <a:gd name="connsiteY1" fmla="*/ 0 h 6858000"/>
              <a:gd name="connsiteX2" fmla="*/ 6873692 w 6873692"/>
              <a:gd name="connsiteY2" fmla="*/ 6858000 h 6858000"/>
              <a:gd name="connsiteX3" fmla="*/ 0 w 6873692"/>
              <a:gd name="connsiteY3" fmla="*/ 6858000 h 6858000"/>
              <a:gd name="connsiteX4" fmla="*/ 6010589 w 6873692"/>
              <a:gd name="connsiteY4" fmla="*/ 4 h 6858000"/>
              <a:gd name="connsiteX5" fmla="*/ 6010590 w 6873692"/>
              <a:gd name="connsiteY5" fmla="*/ 2 h 6858000"/>
              <a:gd name="connsiteX6" fmla="*/ 6010592 w 6873692"/>
              <a:gd name="connsiteY6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4BE7D2-9A39-19CC-B2A6-492E5D483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0890" y="1016862"/>
            <a:ext cx="9850010" cy="3793336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0000"/>
              </a:lnSpc>
            </a:pPr>
            <a:r>
              <a:rPr lang="en-US" sz="2000" b="1" dirty="0">
                <a:latin typeface="Garamond"/>
              </a:rPr>
              <a:t>Company Bankruptcy Prediction</a:t>
            </a:r>
            <a:br>
              <a:rPr lang="en-US" sz="2000" b="1" dirty="0">
                <a:latin typeface="Garamond"/>
              </a:rPr>
            </a:br>
            <a:br>
              <a:rPr lang="en-US" sz="2000" b="1" dirty="0">
                <a:latin typeface="Garamond"/>
              </a:rPr>
            </a:br>
            <a:r>
              <a:rPr lang="en-US" sz="2000" dirty="0">
                <a:latin typeface="Garamond"/>
              </a:rPr>
              <a:t>A Divide and Conquer Approach</a:t>
            </a:r>
            <a:br>
              <a:rPr lang="en-US" sz="2000" dirty="0">
                <a:latin typeface="Garamond"/>
              </a:rPr>
            </a:br>
            <a:br>
              <a:rPr lang="en-US" sz="2000" dirty="0">
                <a:latin typeface="Garamond"/>
              </a:rPr>
            </a:br>
            <a:r>
              <a:rPr lang="en-US" sz="2000" b="1" dirty="0">
                <a:latin typeface="Garamond"/>
              </a:rPr>
              <a:t>CS 559 - Machine Learning Funds &amp; Apps</a:t>
            </a:r>
            <a:br>
              <a:rPr lang="en-US" sz="2000" b="1" dirty="0">
                <a:latin typeface="Garamond"/>
              </a:rPr>
            </a:br>
            <a:br>
              <a:rPr lang="en-US" sz="2000" dirty="0">
                <a:latin typeface="Garamond"/>
              </a:rPr>
            </a:br>
            <a:br>
              <a:rPr lang="en-US" sz="2000" dirty="0">
                <a:latin typeface="Garamond"/>
              </a:rPr>
            </a:br>
            <a:br>
              <a:rPr lang="en-US" sz="2000" dirty="0">
                <a:latin typeface="Garamond"/>
              </a:rPr>
            </a:br>
            <a:r>
              <a:rPr lang="en-US" sz="2000" b="1" dirty="0">
                <a:latin typeface="Garamond"/>
              </a:rPr>
              <a:t>Team Members</a:t>
            </a:r>
            <a:br>
              <a:rPr lang="en-US" sz="2000" b="1" dirty="0">
                <a:latin typeface="Garamond"/>
              </a:rPr>
            </a:br>
            <a:br>
              <a:rPr lang="en-US" sz="2000" b="1" dirty="0">
                <a:latin typeface="Garamond"/>
              </a:rPr>
            </a:br>
            <a:r>
              <a:rPr lang="en-US" sz="2000" dirty="0">
                <a:latin typeface="Garamond"/>
              </a:rPr>
              <a:t>1. Bhushan Asati (Cluster 0)</a:t>
            </a:r>
            <a:br>
              <a:rPr lang="en-US" sz="2000" dirty="0">
                <a:latin typeface="Garamond"/>
              </a:rPr>
            </a:br>
            <a:r>
              <a:rPr lang="en-US" sz="2000" dirty="0">
                <a:latin typeface="Garamond"/>
              </a:rPr>
              <a:t>2. Anirudh Sharma (Cluster 1)</a:t>
            </a:r>
            <a:br>
              <a:rPr lang="en-US" sz="2000" dirty="0">
                <a:latin typeface="Garamond"/>
              </a:rPr>
            </a:br>
            <a:r>
              <a:rPr lang="en-US" sz="2000" dirty="0">
                <a:latin typeface="Garamond"/>
              </a:rPr>
              <a:t>3. Rujuta Dabke (Cluster 5)</a:t>
            </a:r>
            <a:br>
              <a:rPr lang="en-US" sz="2000" dirty="0">
                <a:latin typeface="Garamond"/>
              </a:rPr>
            </a:br>
            <a:r>
              <a:rPr lang="en-US" sz="2000" dirty="0">
                <a:latin typeface="Garamond"/>
              </a:rPr>
              <a:t>4. Suyash Madhavi (Cluster 6)</a:t>
            </a:r>
          </a:p>
        </p:txBody>
      </p:sp>
      <p:cxnSp>
        <p:nvCxnSpPr>
          <p:cNvPr id="126" name="Straight Connector 125">
            <a:extLst>
              <a:ext uri="{FF2B5EF4-FFF2-40B4-BE49-F238E27FC236}">
                <a16:creationId xmlns:a16="http://schemas.microsoft.com/office/drawing/2014/main" id="{336FDCA7-0AF2-4082-9481-EF2C115F2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4902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0698BE-0CBD-71A0-F1FC-4EFBDF089B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73544"/>
            <a:ext cx="5999018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Project Overview</a:t>
            </a:r>
            <a:endParaRPr lang="en-US">
              <a:latin typeface="Garam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6201D-1722-23E1-319F-656394FDD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2033853"/>
            <a:ext cx="5913782" cy="3964682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We applied a </a:t>
            </a:r>
            <a:r>
              <a:rPr lang="en-US" sz="1800" b="1">
                <a:latin typeface="Garamond"/>
              </a:rPr>
              <a:t>"Divide and Conquer"</a:t>
            </a:r>
            <a:r>
              <a:rPr lang="en-US" sz="1800">
                <a:latin typeface="Garamond"/>
              </a:rPr>
              <a:t> strategy to predict company bankruptcy in a highly imbalanced dataset.</a:t>
            </a: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Our Approach</a:t>
            </a: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Clustering:</a:t>
            </a:r>
            <a:r>
              <a:rPr lang="en-US" sz="1800">
                <a:latin typeface="Garamond"/>
              </a:rPr>
              <a:t> Reduced features to top 50 and used K-Means (K=7) to create homogeneous subgroups</a:t>
            </a: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Stacking:</a:t>
            </a:r>
            <a:r>
              <a:rPr lang="en-US" sz="1800">
                <a:latin typeface="Garamond"/>
              </a:rPr>
              <a:t> Built specialized Stacking Classifiers (Random Forest, K-Nearest Neighbors, Logistic Regression) for each subgroup</a:t>
            </a: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Generalization:</a:t>
            </a:r>
            <a:r>
              <a:rPr lang="en-US" sz="1800">
                <a:latin typeface="Garamond"/>
              </a:rPr>
              <a:t> Combined expert models to predict bankruptcy on test set</a:t>
            </a:r>
          </a:p>
          <a:p>
            <a:pPr>
              <a:lnSpc>
                <a:spcPct val="110000"/>
              </a:lnSpc>
            </a:pPr>
            <a:endParaRPr lang="en-US" sz="1800">
              <a:latin typeface="Garamond"/>
            </a:endParaRPr>
          </a:p>
        </p:txBody>
      </p:sp>
      <p:pic>
        <p:nvPicPr>
          <p:cNvPr id="7" name="Graphic 6" descr="Statistics">
            <a:extLst>
              <a:ext uri="{FF2B5EF4-FFF2-40B4-BE49-F238E27FC236}">
                <a16:creationId xmlns:a16="http://schemas.microsoft.com/office/drawing/2014/main" id="{D0A206E2-211E-BE4F-CA57-27493FD4B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310" y="1931097"/>
            <a:ext cx="3327437" cy="3327437"/>
          </a:xfrm>
          <a:prstGeom prst="rect">
            <a:avLst/>
          </a:prstGeom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86810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C14EAA-4E52-C6DA-E86E-099CCB9B80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751457"/>
            <a:ext cx="5999018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Company Characterization</a:t>
            </a:r>
            <a:endParaRPr lang="en-US">
              <a:latin typeface="Garamond"/>
            </a:endParaRPr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740FD66E-0EDC-E9DE-18E6-B437760FC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2" y="2232635"/>
            <a:ext cx="6256128" cy="356711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We identified </a:t>
            </a:r>
            <a:r>
              <a:rPr lang="en-US" sz="1800" b="1">
                <a:latin typeface="Garamond"/>
              </a:rPr>
              <a:t>7 distinct subgroups</a:t>
            </a:r>
            <a:r>
              <a:rPr lang="en-US" sz="1800">
                <a:latin typeface="Garamond"/>
              </a:rPr>
              <a:t> within the training data, each with unique financial characteristics and risk profiles.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Total Companies - </a:t>
            </a:r>
            <a:r>
              <a:rPr lang="en-US" sz="1800" b="1">
                <a:latin typeface="Garamond"/>
              </a:rPr>
              <a:t>5,807</a:t>
            </a:r>
            <a:endParaRPr lang="en-US" sz="18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Bankrupt Companies - </a:t>
            </a:r>
            <a:r>
              <a:rPr lang="en-US" sz="1800" b="1">
                <a:latin typeface="Garamond"/>
              </a:rPr>
              <a:t>198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Overall Bankruptcy Rate - </a:t>
            </a:r>
            <a:r>
              <a:rPr lang="en-US" sz="1800" b="1">
                <a:latin typeface="Garamond"/>
              </a:rPr>
              <a:t>3.41%</a:t>
            </a:r>
          </a:p>
          <a:p>
            <a:pPr>
              <a:lnSpc>
                <a:spcPct val="110000"/>
              </a:lnSpc>
            </a:pPr>
            <a:endParaRPr lang="en-US" sz="1800" b="1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Key Insight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The clustering approach successfully separated high-risk companies from stable ones, enabling specialized prediction models for each subgroup.</a:t>
            </a:r>
            <a:br>
              <a:rPr lang="en-US" sz="1800">
                <a:latin typeface="Garamond"/>
              </a:rPr>
            </a:br>
            <a:endParaRPr lang="en-US" sz="1800">
              <a:latin typeface="Garamond"/>
            </a:endParaRPr>
          </a:p>
          <a:p>
            <a:pPr>
              <a:lnSpc>
                <a:spcPct val="110000"/>
              </a:lnSpc>
            </a:pPr>
            <a:endParaRPr lang="en-US" sz="1800">
              <a:latin typeface="Garamond"/>
            </a:endParaRPr>
          </a:p>
          <a:p>
            <a:pPr>
              <a:lnSpc>
                <a:spcPct val="110000"/>
              </a:lnSpc>
            </a:pPr>
            <a:endParaRPr lang="en-US" sz="1800">
              <a:latin typeface="Garamond"/>
            </a:endParaRPr>
          </a:p>
        </p:txBody>
      </p:sp>
      <p:pic>
        <p:nvPicPr>
          <p:cNvPr id="7" name="Graphic 6" descr="Hierarchy">
            <a:extLst>
              <a:ext uri="{FF2B5EF4-FFF2-40B4-BE49-F238E27FC236}">
                <a16:creationId xmlns:a16="http://schemas.microsoft.com/office/drawing/2014/main" id="{C61E7B3E-8C00-40FE-676A-6BB2F28E80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310" y="1931097"/>
            <a:ext cx="3327437" cy="332743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91688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685B57F6-59DE-4274-A37C-F47FE4E42E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77D413-AC19-08AC-6435-26E553AB9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8088406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Subgroup Analysis (Part 1)</a:t>
            </a:r>
            <a:endParaRPr lang="en-US">
              <a:latin typeface="Garamond"/>
            </a:endParaRPr>
          </a:p>
        </p:txBody>
      </p:sp>
      <p:pic>
        <p:nvPicPr>
          <p:cNvPr id="5" name="Picture 4" descr="Office building overlayed with stock market graphs">
            <a:extLst>
              <a:ext uri="{FF2B5EF4-FFF2-40B4-BE49-F238E27FC236}">
                <a16:creationId xmlns:a16="http://schemas.microsoft.com/office/drawing/2014/main" id="{7B4F2F6A-429A-AFF8-0BFB-DCC51E92578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5054"/>
          <a:stretch>
            <a:fillRect/>
          </a:stretch>
        </p:blipFill>
        <p:spPr>
          <a:xfrm>
            <a:off x="4462998" y="10"/>
            <a:ext cx="7729002" cy="6857990"/>
          </a:xfrm>
          <a:custGeom>
            <a:avLst/>
            <a:gdLst/>
            <a:ahLst/>
            <a:cxnLst/>
            <a:rect l="l" t="t" r="r" b="b"/>
            <a:pathLst>
              <a:path w="7729002" h="6858000">
                <a:moveTo>
                  <a:pt x="6878624" y="0"/>
                </a:moveTo>
                <a:lnTo>
                  <a:pt x="7729002" y="0"/>
                </a:lnTo>
                <a:lnTo>
                  <a:pt x="7729002" y="4099788"/>
                </a:lnTo>
                <a:lnTo>
                  <a:pt x="5311608" y="6858000"/>
                </a:lnTo>
                <a:lnTo>
                  <a:pt x="868032" y="6858000"/>
                </a:lnTo>
                <a:close/>
                <a:moveTo>
                  <a:pt x="0" y="0"/>
                </a:moveTo>
                <a:lnTo>
                  <a:pt x="6878624" y="0"/>
                </a:lnTo>
                <a:lnTo>
                  <a:pt x="0" y="1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481338-00FF-4DCC-E110-3F3B72E8E3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30"/>
            <a:ext cx="5668460" cy="344348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Garamond"/>
              </a:rPr>
              <a:t>Cluster 0</a:t>
            </a:r>
          </a:p>
          <a:p>
            <a:r>
              <a:rPr lang="en-US" b="1">
                <a:latin typeface="Garamond"/>
              </a:rPr>
              <a:t>2,846 companies</a:t>
            </a:r>
            <a:r>
              <a:rPr lang="en-US">
                <a:latin typeface="Garamond"/>
              </a:rPr>
              <a:t> | 63 Bankrupt</a:t>
            </a:r>
          </a:p>
          <a:p>
            <a:r>
              <a:rPr lang="en-US">
                <a:latin typeface="Garamond"/>
              </a:rPr>
              <a:t>Bankruptcy Rate: </a:t>
            </a:r>
            <a:r>
              <a:rPr lang="en-US" b="1">
                <a:latin typeface="Garamond"/>
              </a:rPr>
              <a:t>2.21%</a:t>
            </a:r>
            <a:endParaRPr lang="en-US">
              <a:latin typeface="Garamond"/>
            </a:endParaRPr>
          </a:p>
          <a:p>
            <a:r>
              <a:rPr lang="en-US" b="1">
                <a:latin typeface="Garamond"/>
              </a:rPr>
              <a:t>Low Risk</a:t>
            </a:r>
            <a:endParaRPr lang="en-US">
              <a:latin typeface="Garamond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2000" i="0">
                <a:latin typeface="Garamond"/>
              </a:rPr>
              <a:t>Largest group representing "average" financial health</a:t>
            </a:r>
          </a:p>
          <a:p>
            <a:pPr marL="0" indent="0">
              <a:buNone/>
            </a:pPr>
            <a:endParaRPr lang="en-US">
              <a:latin typeface="Garamond"/>
            </a:endParaRP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AD042BA-B482-486E-9E0C-75374069B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25315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4541A6F-7CB9-BE7D-5E68-596A399D1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 1</a:t>
            </a:r>
            <a:endParaRPr lang="en-US">
              <a:latin typeface="Garamond"/>
            </a:endParaRP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F7B7F0-4F91-E82E-CFC0-BF383DBFE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953000" cy="3567118"/>
          </a:xfrm>
        </p:spPr>
        <p:txBody>
          <a:bodyPr anchor="t">
            <a:normAutofit/>
          </a:bodyPr>
          <a:lstStyle/>
          <a:p>
            <a:r>
              <a:rPr lang="en-US" b="1">
                <a:latin typeface="Garamond"/>
              </a:rPr>
              <a:t>1,693 companies</a:t>
            </a:r>
            <a:r>
              <a:rPr lang="en-US">
                <a:latin typeface="Garamond"/>
              </a:rPr>
              <a:t> | 3 Bankrupt</a:t>
            </a:r>
          </a:p>
          <a:p>
            <a:r>
              <a:rPr lang="en-US">
                <a:latin typeface="Garamond"/>
              </a:rPr>
              <a:t>Bankruptcy Rate: </a:t>
            </a:r>
            <a:r>
              <a:rPr lang="en-US" b="1">
                <a:latin typeface="Garamond"/>
              </a:rPr>
              <a:t>0.18%</a:t>
            </a:r>
            <a:endParaRPr lang="en-US">
              <a:latin typeface="Garamond"/>
            </a:endParaRPr>
          </a:p>
          <a:p>
            <a:r>
              <a:rPr lang="en-US" b="1">
                <a:latin typeface="Garamond"/>
              </a:rPr>
              <a:t>Very Low Risk</a:t>
            </a:r>
          </a:p>
          <a:p>
            <a:pPr marL="514350" lvl="1" indent="-285750">
              <a:buFont typeface="Arial"/>
              <a:buChar char="•"/>
            </a:pPr>
            <a:r>
              <a:rPr lang="en-US" i="0">
                <a:latin typeface="Garamond"/>
              </a:rPr>
              <a:t>Very stable financial metrics with minimal risk</a:t>
            </a:r>
          </a:p>
        </p:txBody>
      </p:sp>
      <p:pic>
        <p:nvPicPr>
          <p:cNvPr id="7" name="Graphic 6" descr="Downward trend">
            <a:extLst>
              <a:ext uri="{FF2B5EF4-FFF2-40B4-BE49-F238E27FC236}">
                <a16:creationId xmlns:a16="http://schemas.microsoft.com/office/drawing/2014/main" id="{B7E4B3E7-C88E-6640-2E4D-8AF29D9001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310" y="1931097"/>
            <a:ext cx="3327437" cy="3327437"/>
          </a:xfrm>
          <a:prstGeom prst="rect">
            <a:avLst/>
          </a:prstGeom>
        </p:spPr>
      </p:pic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93741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327AB4C5-0719-4E35-87CD-199EB59E3E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3F51EE1E-6258-4F09-963A-853315C6F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 flipV="1">
            <a:off x="1127553" y="-1127553"/>
            <a:ext cx="6858000" cy="9113106"/>
          </a:xfrm>
          <a:custGeom>
            <a:avLst/>
            <a:gdLst>
              <a:gd name="connsiteX0" fmla="*/ 0 w 6858000"/>
              <a:gd name="connsiteY0" fmla="*/ 7143270 h 9113106"/>
              <a:gd name="connsiteX1" fmla="*/ 0 w 6858000"/>
              <a:gd name="connsiteY1" fmla="*/ 6878623 h 9113106"/>
              <a:gd name="connsiteX2" fmla="*/ 1 w 6858000"/>
              <a:gd name="connsiteY2" fmla="*/ 6878623 h 9113106"/>
              <a:gd name="connsiteX3" fmla="*/ 0 w 6858000"/>
              <a:gd name="connsiteY3" fmla="*/ 4319945 h 9113106"/>
              <a:gd name="connsiteX4" fmla="*/ 1 w 6858000"/>
              <a:gd name="connsiteY4" fmla="*/ 4319945 h 9113106"/>
              <a:gd name="connsiteX5" fmla="*/ 1 w 6858000"/>
              <a:gd name="connsiteY5" fmla="*/ 13542 h 9113106"/>
              <a:gd name="connsiteX6" fmla="*/ 0 w 6858000"/>
              <a:gd name="connsiteY6" fmla="*/ 13540 h 9113106"/>
              <a:gd name="connsiteX7" fmla="*/ 0 w 6858000"/>
              <a:gd name="connsiteY7" fmla="*/ 0 h 9113106"/>
              <a:gd name="connsiteX8" fmla="*/ 6858000 w 6858000"/>
              <a:gd name="connsiteY8" fmla="*/ 6010591 h 9113106"/>
              <a:gd name="connsiteX9" fmla="*/ 6858000 w 6858000"/>
              <a:gd name="connsiteY9" fmla="*/ 3794798 h 9113106"/>
              <a:gd name="connsiteX10" fmla="*/ 6858000 w 6858000"/>
              <a:gd name="connsiteY10" fmla="*/ 3794798 h 9113106"/>
              <a:gd name="connsiteX11" fmla="*/ 6858000 w 6858000"/>
              <a:gd name="connsiteY11" fmla="*/ 3837120 h 9113106"/>
              <a:gd name="connsiteX12" fmla="*/ 6858000 w 6858000"/>
              <a:gd name="connsiteY12" fmla="*/ 6838049 h 9113106"/>
              <a:gd name="connsiteX13" fmla="*/ 6858000 w 6858000"/>
              <a:gd name="connsiteY13" fmla="*/ 9113106 h 9113106"/>
              <a:gd name="connsiteX14" fmla="*/ 1 w 6858000"/>
              <a:gd name="connsiteY14" fmla="*/ 9113106 h 9113106"/>
              <a:gd name="connsiteX15" fmla="*/ 1 w 6858000"/>
              <a:gd name="connsiteY15" fmla="*/ 7143270 h 9113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858000" h="9113106">
                <a:moveTo>
                  <a:pt x="0" y="7143270"/>
                </a:moveTo>
                <a:lnTo>
                  <a:pt x="0" y="6878623"/>
                </a:lnTo>
                <a:lnTo>
                  <a:pt x="1" y="6878623"/>
                </a:lnTo>
                <a:lnTo>
                  <a:pt x="0" y="4319945"/>
                </a:lnTo>
                <a:lnTo>
                  <a:pt x="1" y="4319945"/>
                </a:lnTo>
                <a:lnTo>
                  <a:pt x="1" y="13542"/>
                </a:lnTo>
                <a:lnTo>
                  <a:pt x="0" y="13540"/>
                </a:lnTo>
                <a:lnTo>
                  <a:pt x="0" y="0"/>
                </a:lnTo>
                <a:lnTo>
                  <a:pt x="6858000" y="6010591"/>
                </a:lnTo>
                <a:lnTo>
                  <a:pt x="6858000" y="3794798"/>
                </a:lnTo>
                <a:lnTo>
                  <a:pt x="6858000" y="3794798"/>
                </a:lnTo>
                <a:lnTo>
                  <a:pt x="6858000" y="3837120"/>
                </a:lnTo>
                <a:lnTo>
                  <a:pt x="6858000" y="6838049"/>
                </a:lnTo>
                <a:lnTo>
                  <a:pt x="6858000" y="9113106"/>
                </a:lnTo>
                <a:lnTo>
                  <a:pt x="1" y="9113106"/>
                </a:lnTo>
                <a:lnTo>
                  <a:pt x="1" y="714327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3FAA1-7C4A-2C68-A6DA-9B8171189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72935"/>
            <a:ext cx="5999018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 5</a:t>
            </a:r>
            <a:endParaRPr lang="en-US">
              <a:latin typeface="Garam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6152E-B52B-8C3C-17F2-32E7FDD569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6"/>
            <a:ext cx="4953000" cy="3567118"/>
          </a:xfrm>
        </p:spPr>
        <p:txBody>
          <a:bodyPr anchor="t">
            <a:normAutofit/>
          </a:bodyPr>
          <a:lstStyle/>
          <a:p>
            <a:r>
              <a:rPr lang="en-US" b="1">
                <a:latin typeface="Garamond"/>
              </a:rPr>
              <a:t>727 companies</a:t>
            </a:r>
            <a:r>
              <a:rPr lang="en-US">
                <a:latin typeface="Garamond"/>
              </a:rPr>
              <a:t> | 129 Bankrupt</a:t>
            </a:r>
          </a:p>
          <a:p>
            <a:r>
              <a:rPr lang="en-US">
                <a:latin typeface="Garamond"/>
              </a:rPr>
              <a:t>Bankruptcy Rate: </a:t>
            </a:r>
            <a:r>
              <a:rPr lang="en-US" b="1">
                <a:latin typeface="Garamond"/>
              </a:rPr>
              <a:t>17.74%</a:t>
            </a:r>
            <a:endParaRPr lang="en-US">
              <a:latin typeface="Garamond"/>
            </a:endParaRPr>
          </a:p>
          <a:p>
            <a:r>
              <a:rPr lang="en-US" b="1">
                <a:latin typeface="Garamond"/>
              </a:rPr>
              <a:t>High Risk</a:t>
            </a:r>
            <a:endParaRPr lang="en-US">
              <a:latin typeface="Garamond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2000" i="0">
                <a:latin typeface="Garamond"/>
              </a:rPr>
              <a:t>Contains majority of bankruptcies</a:t>
            </a:r>
          </a:p>
        </p:txBody>
      </p:sp>
      <p:pic>
        <p:nvPicPr>
          <p:cNvPr id="13" name="Graphic 12" descr="Downward trend">
            <a:extLst>
              <a:ext uri="{FF2B5EF4-FFF2-40B4-BE49-F238E27FC236}">
                <a16:creationId xmlns:a16="http://schemas.microsoft.com/office/drawing/2014/main" id="{29540D2D-26AD-AA6E-7ED9-612789A4EC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857310" y="1931097"/>
            <a:ext cx="3327437" cy="3327437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FA07B03-7E5B-4F33-A494-D72BC5BEB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707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FA294778-47A8-4EEF-9689-F6964D44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: Shape 11">
            <a:extLst>
              <a:ext uri="{FF2B5EF4-FFF2-40B4-BE49-F238E27FC236}">
                <a16:creationId xmlns:a16="http://schemas.microsoft.com/office/drawing/2014/main" id="{BD2A511A-065F-489D-9CF0-FEF36143A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531806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9" name="Freeform: Shape 13">
            <a:extLst>
              <a:ext uri="{FF2B5EF4-FFF2-40B4-BE49-F238E27FC236}">
                <a16:creationId xmlns:a16="http://schemas.microsoft.com/office/drawing/2014/main" id="{6F626582-88CC-4CA0-8BC6-94550FF9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17267" cy="6858000"/>
          </a:xfrm>
          <a:custGeom>
            <a:avLst/>
            <a:gdLst>
              <a:gd name="connsiteX0" fmla="*/ 0 w 11317267"/>
              <a:gd name="connsiteY0" fmla="*/ 0 h 6858000"/>
              <a:gd name="connsiteX1" fmla="*/ 11317267 w 11317267"/>
              <a:gd name="connsiteY1" fmla="*/ 0 h 6858000"/>
              <a:gd name="connsiteX2" fmla="*/ 5306679 w 11317267"/>
              <a:gd name="connsiteY2" fmla="*/ 6857996 h 6858000"/>
              <a:gd name="connsiteX3" fmla="*/ 5306677 w 11317267"/>
              <a:gd name="connsiteY3" fmla="*/ 6857998 h 6858000"/>
              <a:gd name="connsiteX4" fmla="*/ 5306675 w 11317267"/>
              <a:gd name="connsiteY4" fmla="*/ 6858000 h 6858000"/>
              <a:gd name="connsiteX5" fmla="*/ 0 w 1131726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7267" h="6858000">
                <a:moveTo>
                  <a:pt x="0" y="0"/>
                </a:moveTo>
                <a:lnTo>
                  <a:pt x="11317267" y="0"/>
                </a:lnTo>
                <a:lnTo>
                  <a:pt x="5306679" y="6857996"/>
                </a:lnTo>
                <a:cubicBezTo>
                  <a:pt x="5306679" y="6857997"/>
                  <a:pt x="5306677" y="6857997"/>
                  <a:pt x="5306677" y="6857998"/>
                </a:cubicBezTo>
                <a:lnTo>
                  <a:pt x="53066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075568-6549-FF7E-9564-B8A70AE4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492285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 6</a:t>
            </a:r>
            <a:endParaRPr lang="en-US">
              <a:latin typeface="Garamond"/>
            </a:endParaRP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A029B84-B44D-45F6-8860-809771D7C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332028"/>
            <a:ext cx="5115812" cy="36530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Garamond"/>
              </a:rPr>
              <a:t>3 companies</a:t>
            </a:r>
            <a:r>
              <a:rPr lang="en-US">
                <a:latin typeface="Garamond"/>
              </a:rPr>
              <a:t> | 3 Bankrupt</a:t>
            </a:r>
          </a:p>
          <a:p>
            <a:r>
              <a:rPr lang="en-US">
                <a:latin typeface="Garamond"/>
              </a:rPr>
              <a:t>Bankruptcy Rate: </a:t>
            </a:r>
            <a:r>
              <a:rPr lang="en-US" b="1">
                <a:latin typeface="Garamond"/>
              </a:rPr>
              <a:t>100%</a:t>
            </a:r>
            <a:endParaRPr lang="en-US">
              <a:latin typeface="Garamond"/>
            </a:endParaRPr>
          </a:p>
          <a:p>
            <a:r>
              <a:rPr lang="en-US" b="1">
                <a:latin typeface="Garamond"/>
              </a:rPr>
              <a:t>Critical</a:t>
            </a:r>
            <a:endParaRPr lang="en-US">
              <a:latin typeface="Garamond"/>
            </a:endParaRPr>
          </a:p>
          <a:p>
            <a:pPr marL="514350" lvl="1" indent="-285750">
              <a:buFont typeface="Arial"/>
              <a:buChar char="•"/>
            </a:pPr>
            <a:r>
              <a:rPr lang="en-US" sz="2000" i="0">
                <a:latin typeface="Garamond"/>
              </a:rPr>
              <a:t>Small outlier group of severely distressed companies.</a:t>
            </a:r>
          </a:p>
          <a:p>
            <a:endParaRPr lang="en-US">
              <a:latin typeface="Garamond"/>
            </a:endParaRPr>
          </a:p>
        </p:txBody>
      </p:sp>
      <p:pic>
        <p:nvPicPr>
          <p:cNvPr id="31" name="Graphic 30" descr="Building">
            <a:extLst>
              <a:ext uri="{FF2B5EF4-FFF2-40B4-BE49-F238E27FC236}">
                <a16:creationId xmlns:a16="http://schemas.microsoft.com/office/drawing/2014/main" id="{689832E0-17DA-DE06-C5C9-70C2AC619E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2550" y="3428999"/>
            <a:ext cx="2785533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00165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D3B97D3-3894-4963-90C5-4EAA66131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AF5D00-0C89-CFBF-C8E7-816E095D38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0872" y="872935"/>
            <a:ext cx="6229927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Clusters 2, 3, 4: No Risk</a:t>
            </a:r>
            <a:endParaRPr lang="en-US">
              <a:latin typeface="Garamond"/>
            </a:endParaRPr>
          </a:p>
        </p:txBody>
      </p:sp>
      <p:pic>
        <p:nvPicPr>
          <p:cNvPr id="7" name="Graphic 6" descr="Building">
            <a:extLst>
              <a:ext uri="{FF2B5EF4-FFF2-40B4-BE49-F238E27FC236}">
                <a16:creationId xmlns:a16="http://schemas.microsoft.com/office/drawing/2014/main" id="{FA426A8F-9281-F882-0A62-E1D64C66C0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0484" y="1906013"/>
            <a:ext cx="2975262" cy="2975262"/>
          </a:xfrm>
          <a:prstGeom prst="rect">
            <a:avLst/>
          </a:prstGeom>
        </p:spPr>
      </p:pic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795CC7B3-6F9F-FC2A-2218-64973F6F5A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0873" y="2332026"/>
            <a:ext cx="5798126" cy="384017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538 companies</a:t>
            </a:r>
            <a:r>
              <a:rPr lang="en-US" sz="1800">
                <a:latin typeface="Garamond"/>
              </a:rPr>
              <a:t> | 0 Bankrupt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Bankruptcy Rate: </a:t>
            </a:r>
            <a:r>
              <a:rPr lang="en-US" sz="1800" b="1">
                <a:latin typeface="Garamond"/>
              </a:rPr>
              <a:t>0%</a:t>
            </a:r>
            <a:endParaRPr lang="en-US" sz="18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No Risk</a:t>
            </a:r>
            <a:endParaRPr lang="en-US" sz="1800">
              <a:latin typeface="Garamond"/>
            </a:endParaRPr>
          </a:p>
          <a:p>
            <a:pPr marL="514350" lvl="1" indent="-285750">
              <a:lnSpc>
                <a:spcPct val="110000"/>
              </a:lnSpc>
              <a:buFont typeface="Arial"/>
              <a:buChar char="•"/>
            </a:pPr>
            <a:r>
              <a:rPr lang="en-US" i="0">
                <a:latin typeface="Garamond"/>
              </a:rPr>
              <a:t>No historical bankruptcies - used Constant Classifier</a:t>
            </a:r>
          </a:p>
          <a:p>
            <a:pPr>
              <a:lnSpc>
                <a:spcPct val="110000"/>
              </a:lnSpc>
            </a:pPr>
            <a:endParaRPr lang="en-US" sz="18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800" b="1">
                <a:latin typeface="Garamond"/>
              </a:rPr>
              <a:t>Cluster 5 Key Characteristics</a:t>
            </a:r>
          </a:p>
          <a:p>
            <a:pPr>
              <a:lnSpc>
                <a:spcPct val="110000"/>
              </a:lnSpc>
            </a:pPr>
            <a:r>
              <a:rPr lang="en-US" sz="1800">
                <a:latin typeface="Garamond"/>
              </a:rPr>
              <a:t>Companies consistently scored low on:</a:t>
            </a:r>
          </a:p>
          <a:p>
            <a:pPr marL="514350" lvl="1" indent="-285750">
              <a:lnSpc>
                <a:spcPct val="110000"/>
              </a:lnSpc>
              <a:buFont typeface="Arial"/>
              <a:buChar char="•"/>
            </a:pPr>
            <a:r>
              <a:rPr lang="en-US" i="0">
                <a:latin typeface="Garamond"/>
              </a:rPr>
              <a:t>Net Income to Total Assets.</a:t>
            </a:r>
          </a:p>
          <a:p>
            <a:pPr marL="514350" lvl="1" indent="-285750">
              <a:lnSpc>
                <a:spcPct val="110000"/>
              </a:lnSpc>
              <a:buFont typeface="Arial"/>
              <a:buChar char="•"/>
            </a:pPr>
            <a:r>
              <a:rPr lang="en-US" i="0">
                <a:latin typeface="Garamond"/>
              </a:rPr>
              <a:t>Persistent</a:t>
            </a:r>
            <a:r>
              <a:rPr lang="en-US" sz="1800" i="0">
                <a:latin typeface="Garamond"/>
              </a:rPr>
              <a:t> EPS</a:t>
            </a:r>
            <a:endParaRPr lang="en-US" i="0">
              <a:latin typeface="Garamond"/>
            </a:endParaRPr>
          </a:p>
          <a:p>
            <a:pPr>
              <a:lnSpc>
                <a:spcPct val="110000"/>
              </a:lnSpc>
            </a:pPr>
            <a:endParaRPr lang="en-US" sz="1800">
              <a:latin typeface="Garamond"/>
            </a:endParaRPr>
          </a:p>
        </p:txBody>
      </p:sp>
    </p:spTree>
    <p:extLst>
      <p:ext uri="{BB962C8B-B14F-4D97-AF65-F5344CB8AC3E}">
        <p14:creationId xmlns:p14="http://schemas.microsoft.com/office/powerpoint/2010/main" val="3194101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0" name="Rectangle 49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E7DF3E-1A87-48EE-1567-4A302B3BB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756" y="906189"/>
            <a:ext cx="8689571" cy="1001886"/>
          </a:xfrm>
        </p:spPr>
        <p:txBody>
          <a:bodyPr anchor="b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b="1">
                <a:latin typeface="Garamond"/>
              </a:rPr>
              <a:t>Model Performance by Subgroup</a:t>
            </a:r>
            <a:endParaRPr lang="en-US">
              <a:latin typeface="Garamond"/>
            </a:endParaRP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2" name="Content Placeholder 3">
            <a:extLst>
              <a:ext uri="{FF2B5EF4-FFF2-40B4-BE49-F238E27FC236}">
                <a16:creationId xmlns:a16="http://schemas.microsoft.com/office/drawing/2014/main" id="{F0244A8B-2A7C-6FB3-56CA-6947D069C97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59887270"/>
              </p:ext>
            </p:extLst>
          </p:nvPr>
        </p:nvGraphicFramePr>
        <p:xfrm>
          <a:off x="1143000" y="2447186"/>
          <a:ext cx="9906006" cy="3519317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391470">
                  <a:extLst>
                    <a:ext uri="{9D8B030D-6E8A-4147-A177-3AD203B41FA5}">
                      <a16:colId xmlns:a16="http://schemas.microsoft.com/office/drawing/2014/main" val="2391678115"/>
                    </a:ext>
                  </a:extLst>
                </a:gridCol>
                <a:gridCol w="1391470">
                  <a:extLst>
                    <a:ext uri="{9D8B030D-6E8A-4147-A177-3AD203B41FA5}">
                      <a16:colId xmlns:a16="http://schemas.microsoft.com/office/drawing/2014/main" val="3033663599"/>
                    </a:ext>
                  </a:extLst>
                </a:gridCol>
                <a:gridCol w="1557186">
                  <a:extLst>
                    <a:ext uri="{9D8B030D-6E8A-4147-A177-3AD203B41FA5}">
                      <a16:colId xmlns:a16="http://schemas.microsoft.com/office/drawing/2014/main" val="1100508731"/>
                    </a:ext>
                  </a:extLst>
                </a:gridCol>
                <a:gridCol w="1391470">
                  <a:extLst>
                    <a:ext uri="{9D8B030D-6E8A-4147-A177-3AD203B41FA5}">
                      <a16:colId xmlns:a16="http://schemas.microsoft.com/office/drawing/2014/main" val="618079736"/>
                    </a:ext>
                  </a:extLst>
                </a:gridCol>
                <a:gridCol w="1391470">
                  <a:extLst>
                    <a:ext uri="{9D8B030D-6E8A-4147-A177-3AD203B41FA5}">
                      <a16:colId xmlns:a16="http://schemas.microsoft.com/office/drawing/2014/main" val="1744567718"/>
                    </a:ext>
                  </a:extLst>
                </a:gridCol>
                <a:gridCol w="1391470">
                  <a:extLst>
                    <a:ext uri="{9D8B030D-6E8A-4147-A177-3AD203B41FA5}">
                      <a16:colId xmlns:a16="http://schemas.microsoft.com/office/drawing/2014/main" val="2144002455"/>
                    </a:ext>
                  </a:extLst>
                </a:gridCol>
                <a:gridCol w="1391470">
                  <a:extLst>
                    <a:ext uri="{9D8B030D-6E8A-4147-A177-3AD203B41FA5}">
                      <a16:colId xmlns:a16="http://schemas.microsoft.com/office/drawing/2014/main" val="2722550894"/>
                    </a:ext>
                  </a:extLst>
                </a:gridCol>
              </a:tblGrid>
              <a:tr h="7955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Cluster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Student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Companies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Bankrupt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Correct (TT)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Missed (TF)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000" b="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Features</a:t>
                      </a:r>
                    </a:p>
                  </a:txBody>
                  <a:tcPr marL="0" marR="166027" marT="22948" marB="114741" anchor="b">
                    <a:lnL w="12700" cmpd="sng">
                      <a:noFill/>
                    </a:lnL>
                    <a:lnR w="12700" cmpd="sng">
                      <a:noFill/>
                    </a:lnR>
                    <a:lnT w="9525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9977276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Bhushan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2,846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63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61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2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45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36992056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Anirudh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1,693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36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278848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2-4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Constant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538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9886047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5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Rujuta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727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129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124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5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40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448514"/>
                  </a:ext>
                </a:extLst>
              </a:tr>
              <a:tr h="4245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6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Suyash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3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40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5413952"/>
                  </a:ext>
                </a:extLst>
              </a:tr>
              <a:tr h="424543">
                <a:tc gridSpan="2"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TEAM TOTAL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5,807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198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188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10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cap="none" spc="0">
                          <a:solidFill>
                            <a:schemeClr val="tx1"/>
                          </a:solidFill>
                          <a:effectLst/>
                          <a:latin typeface="Garamond"/>
                        </a:rPr>
                        <a:t>41</a:t>
                      </a:r>
                    </a:p>
                  </a:txBody>
                  <a:tcPr marL="0" marR="166027" marT="34422" marB="114741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6768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185685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3BEA1A24-9CA1-4513-A409-3AD90DB091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Freeform: Shape 62">
            <a:extLst>
              <a:ext uri="{FF2B5EF4-FFF2-40B4-BE49-F238E27FC236}">
                <a16:creationId xmlns:a16="http://schemas.microsoft.com/office/drawing/2014/main" id="{D614C296-26CB-43B0-9404-D05FF687A6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677978">
            <a:off x="-1328609" y="-131647"/>
            <a:ext cx="3715688" cy="1836942"/>
          </a:xfrm>
          <a:custGeom>
            <a:avLst/>
            <a:gdLst>
              <a:gd name="connsiteX0" fmla="*/ 0 w 5069810"/>
              <a:gd name="connsiteY0" fmla="*/ 2506385 h 2506385"/>
              <a:gd name="connsiteX1" fmla="*/ 2859749 w 5069810"/>
              <a:gd name="connsiteY1" fmla="*/ 1 h 2506385"/>
              <a:gd name="connsiteX2" fmla="*/ 2873126 w 5069810"/>
              <a:gd name="connsiteY2" fmla="*/ 0 h 2506385"/>
              <a:gd name="connsiteX3" fmla="*/ 5069810 w 5069810"/>
              <a:gd name="connsiteY3" fmla="*/ 2506385 h 25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9810" h="2506385">
                <a:moveTo>
                  <a:pt x="0" y="2506385"/>
                </a:moveTo>
                <a:lnTo>
                  <a:pt x="2859749" y="1"/>
                </a:lnTo>
                <a:lnTo>
                  <a:pt x="2873126" y="0"/>
                </a:lnTo>
                <a:lnTo>
                  <a:pt x="5069810" y="25063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4FD833-6B99-9CAD-15D8-F79C33DD5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756" y="906189"/>
            <a:ext cx="8689571" cy="1001886"/>
          </a:xfrm>
        </p:spPr>
        <p:txBody>
          <a:bodyPr anchor="b">
            <a:normAutofit/>
          </a:bodyPr>
          <a:lstStyle/>
          <a:p>
            <a:pPr algn="ctr"/>
            <a:r>
              <a:rPr lang="en-US" b="1">
                <a:latin typeface="Garamond"/>
              </a:rPr>
              <a:t>Meta-Model vs Base Models</a:t>
            </a:r>
            <a:endParaRPr lang="en-US">
              <a:latin typeface="Garamond"/>
            </a:endParaRPr>
          </a:p>
        </p:txBody>
      </p:sp>
      <p:sp>
        <p:nvSpPr>
          <p:cNvPr id="65" name="Freeform: Shape 64">
            <a:extLst>
              <a:ext uri="{FF2B5EF4-FFF2-40B4-BE49-F238E27FC236}">
                <a16:creationId xmlns:a16="http://schemas.microsoft.com/office/drawing/2014/main" id="{76F4C24C-DC25-49C1-9509-3F5694D0DA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873948">
            <a:off x="9801250" y="5155580"/>
            <a:ext cx="3715688" cy="1836942"/>
          </a:xfrm>
          <a:custGeom>
            <a:avLst/>
            <a:gdLst>
              <a:gd name="connsiteX0" fmla="*/ 0 w 5069810"/>
              <a:gd name="connsiteY0" fmla="*/ 2506385 h 2506385"/>
              <a:gd name="connsiteX1" fmla="*/ 2859749 w 5069810"/>
              <a:gd name="connsiteY1" fmla="*/ 1 h 2506385"/>
              <a:gd name="connsiteX2" fmla="*/ 2873126 w 5069810"/>
              <a:gd name="connsiteY2" fmla="*/ 0 h 2506385"/>
              <a:gd name="connsiteX3" fmla="*/ 5069810 w 5069810"/>
              <a:gd name="connsiteY3" fmla="*/ 2506385 h 25063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69810" h="2506385">
                <a:moveTo>
                  <a:pt x="0" y="2506385"/>
                </a:moveTo>
                <a:lnTo>
                  <a:pt x="2859749" y="1"/>
                </a:lnTo>
                <a:lnTo>
                  <a:pt x="2873126" y="0"/>
                </a:lnTo>
                <a:lnTo>
                  <a:pt x="5069810" y="2506385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D0970BA-77C0-11CE-D29D-8A91F8562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7715" y="2177940"/>
            <a:ext cx="7358051" cy="3662246"/>
          </a:xfrm>
        </p:spPr>
        <p:txBody>
          <a:bodyPr anchor="ctr">
            <a:normAutofit/>
          </a:bodyPr>
          <a:lstStyle/>
          <a:p>
            <a:pPr algn="ctr"/>
            <a:r>
              <a:rPr lang="en-US" b="1">
                <a:latin typeface="Garamond"/>
              </a:rPr>
              <a:t>Cluster 0 (Standard)</a:t>
            </a:r>
          </a:p>
          <a:p>
            <a:pPr algn="ctr"/>
            <a:r>
              <a:rPr lang="en-US" b="1">
                <a:latin typeface="Garamond"/>
              </a:rPr>
              <a:t>Meta-Model:</a:t>
            </a:r>
            <a:r>
              <a:rPr lang="en-US">
                <a:latin typeface="Garamond"/>
              </a:rPr>
              <a:t> </a:t>
            </a:r>
            <a:r>
              <a:rPr lang="en-US" b="1">
                <a:latin typeface="Garamond"/>
              </a:rPr>
              <a:t>98.83% Accuracy</a:t>
            </a:r>
            <a:endParaRPr lang="en-US">
              <a:latin typeface="Garamond"/>
            </a:endParaRPr>
          </a:p>
          <a:p>
            <a:pPr algn="ctr"/>
            <a:r>
              <a:rPr lang="en-US" b="1">
                <a:latin typeface="Garamond"/>
              </a:rPr>
              <a:t>Base Models:</a:t>
            </a:r>
            <a:r>
              <a:rPr lang="en-US">
                <a:latin typeface="Garamond"/>
              </a:rPr>
              <a:t> RF: 0% | GB: 4.76% | LR: 63.49%</a:t>
            </a:r>
          </a:p>
          <a:p>
            <a:pPr algn="ctr"/>
            <a:endParaRPr lang="en-US">
              <a:latin typeface="Garamond"/>
            </a:endParaRPr>
          </a:p>
        </p:txBody>
      </p:sp>
      <p:cxnSp>
        <p:nvCxnSpPr>
          <p:cNvPr id="67" name="Straight Connector 66">
            <a:extLst>
              <a:ext uri="{FF2B5EF4-FFF2-40B4-BE49-F238E27FC236}">
                <a16:creationId xmlns:a16="http://schemas.microsoft.com/office/drawing/2014/main" id="{3C0930BD-361E-4C4D-8B08-ED210DFA2D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0059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4F20867-41B0-484D-9DA7-0FC742D31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9">
            <a:extLst>
              <a:ext uri="{FF2B5EF4-FFF2-40B4-BE49-F238E27FC236}">
                <a16:creationId xmlns:a16="http://schemas.microsoft.com/office/drawing/2014/main" id="{E37FD100-AD6C-4FB9-B662-CC1C2F000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6497" y="1526602"/>
            <a:ext cx="4667254" cy="5330310"/>
          </a:xfrm>
          <a:custGeom>
            <a:avLst/>
            <a:gdLst>
              <a:gd name="connsiteX0" fmla="*/ 4667254 w 4667254"/>
              <a:gd name="connsiteY0" fmla="*/ 0 h 5325271"/>
              <a:gd name="connsiteX1" fmla="*/ 4667254 w 4667254"/>
              <a:gd name="connsiteY1" fmla="*/ 2543639 h 5325271"/>
              <a:gd name="connsiteX2" fmla="*/ 2229334 w 4667254"/>
              <a:gd name="connsiteY2" fmla="*/ 5325271 h 5325271"/>
              <a:gd name="connsiteX3" fmla="*/ 0 w 4667254"/>
              <a:gd name="connsiteY3" fmla="*/ 5325271 h 532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7254" h="5325271">
                <a:moveTo>
                  <a:pt x="4667254" y="0"/>
                </a:moveTo>
                <a:lnTo>
                  <a:pt x="4667254" y="2543639"/>
                </a:lnTo>
                <a:lnTo>
                  <a:pt x="2229334" y="5325271"/>
                </a:lnTo>
                <a:lnTo>
                  <a:pt x="0" y="5325271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1F9862C-6E51-677D-9E10-61E99C117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8862060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 1 (Safe)</a:t>
            </a:r>
            <a:endParaRPr lang="en-US">
              <a:latin typeface="Garamond"/>
            </a:endParaRP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AFE73B23-0D49-2F68-AE18-39E2BD2503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6972301" cy="3524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Garamond"/>
              </a:rPr>
              <a:t>Meta-Model:</a:t>
            </a:r>
            <a:r>
              <a:rPr lang="en-US">
                <a:latin typeface="Garamond"/>
              </a:rPr>
              <a:t> </a:t>
            </a:r>
            <a:r>
              <a:rPr lang="en-US" b="1">
                <a:latin typeface="Garamond"/>
              </a:rPr>
              <a:t>0% (0/3)</a:t>
            </a:r>
            <a:endParaRPr lang="en-US">
              <a:latin typeface="Garamond"/>
            </a:endParaRPr>
          </a:p>
          <a:p>
            <a:r>
              <a:rPr lang="en-US" b="1">
                <a:latin typeface="Garamond"/>
              </a:rPr>
              <a:t>Base Models:</a:t>
            </a:r>
            <a:r>
              <a:rPr lang="en-US">
                <a:latin typeface="Garamond"/>
              </a:rPr>
              <a:t> RF: 0% | LR: 0%</a:t>
            </a:r>
          </a:p>
          <a:p>
            <a:r>
              <a:rPr lang="en-US">
                <a:latin typeface="Garamond"/>
              </a:rPr>
              <a:t>Note: Extreme imbalance affected prediction performance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D0249902-6C42-4139-A46F-ADF022B8C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4746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509F51-F27F-972A-3EBF-EDF584583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04" y="1181100"/>
            <a:ext cx="4877282" cy="2514828"/>
          </a:xfrm>
        </p:spPr>
        <p:txBody>
          <a:bodyPr anchor="t">
            <a:normAutofit/>
          </a:bodyPr>
          <a:lstStyle/>
          <a:p>
            <a:r>
              <a:rPr lang="en-US" b="1">
                <a:latin typeface="Garamond"/>
              </a:rPr>
              <a:t>Cluster 5 (High Risk)</a:t>
            </a:r>
            <a:endParaRPr lang="en-US">
              <a:latin typeface="Garamond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B544D7AB-2273-1EE8-54DB-1017707337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8740246"/>
              </p:ext>
            </p:extLst>
          </p:nvPr>
        </p:nvGraphicFramePr>
        <p:xfrm>
          <a:off x="1233271" y="648432"/>
          <a:ext cx="6955468" cy="5580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36111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54F20867-41B0-484D-9DA7-0FC742D31A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9">
            <a:extLst>
              <a:ext uri="{FF2B5EF4-FFF2-40B4-BE49-F238E27FC236}">
                <a16:creationId xmlns:a16="http://schemas.microsoft.com/office/drawing/2014/main" id="{E37FD100-AD6C-4FB9-B662-CC1C2F0006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16497" y="1526602"/>
            <a:ext cx="4667254" cy="5330310"/>
          </a:xfrm>
          <a:custGeom>
            <a:avLst/>
            <a:gdLst>
              <a:gd name="connsiteX0" fmla="*/ 4667254 w 4667254"/>
              <a:gd name="connsiteY0" fmla="*/ 0 h 5325271"/>
              <a:gd name="connsiteX1" fmla="*/ 4667254 w 4667254"/>
              <a:gd name="connsiteY1" fmla="*/ 2543639 h 5325271"/>
              <a:gd name="connsiteX2" fmla="*/ 2229334 w 4667254"/>
              <a:gd name="connsiteY2" fmla="*/ 5325271 h 5325271"/>
              <a:gd name="connsiteX3" fmla="*/ 0 w 4667254"/>
              <a:gd name="connsiteY3" fmla="*/ 5325271 h 5325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667254" h="5325271">
                <a:moveTo>
                  <a:pt x="4667254" y="0"/>
                </a:moveTo>
                <a:lnTo>
                  <a:pt x="4667254" y="2543639"/>
                </a:lnTo>
                <a:lnTo>
                  <a:pt x="2229334" y="5325271"/>
                </a:lnTo>
                <a:lnTo>
                  <a:pt x="0" y="5325271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B5050C-8F3F-27F7-88C0-81961AF0D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8862060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</a:rPr>
              <a:t>Cluster 6 (Edge Case)</a:t>
            </a:r>
            <a:endParaRPr lang="en-US">
              <a:latin typeface="Garamond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D6731-8334-ABA0-C422-77D01AE24E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2999" y="2332029"/>
            <a:ext cx="6972301" cy="352448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b="1">
                <a:latin typeface="Garamond"/>
              </a:rPr>
              <a:t>Meta-Model:</a:t>
            </a:r>
            <a:r>
              <a:rPr lang="en-US">
                <a:latin typeface="Garamond"/>
              </a:rPr>
              <a:t> </a:t>
            </a:r>
            <a:r>
              <a:rPr lang="en-US" b="1">
                <a:latin typeface="Garamond"/>
              </a:rPr>
              <a:t>100% (3/3)</a:t>
            </a:r>
            <a:endParaRPr lang="en-US">
              <a:latin typeface="Garamond"/>
            </a:endParaRPr>
          </a:p>
          <a:p>
            <a:r>
              <a:rPr lang="en-US">
                <a:latin typeface="Garamond"/>
              </a:rPr>
              <a:t>Constant Classifier successfully identified all edge cases</a:t>
            </a:r>
          </a:p>
          <a:p>
            <a:pPr marL="0" indent="0">
              <a:buNone/>
            </a:pPr>
            <a:endParaRPr lang="en-US">
              <a:latin typeface="Garamond"/>
            </a:endParaRP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0249902-6C42-4139-A46F-ADF022B8C1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41468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AB20E7A4-EC2C-47C8-BE55-65771E3F2E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1B9D74B-8CF3-86DD-BA29-B4E96B3231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1181100"/>
            <a:ext cx="3894413" cy="2514828"/>
          </a:xfrm>
        </p:spPr>
        <p:txBody>
          <a:bodyPr anchor="t">
            <a:normAutofit/>
          </a:bodyPr>
          <a:lstStyle/>
          <a:p>
            <a:r>
              <a:rPr lang="en-US">
                <a:latin typeface="Garamond"/>
                <a:cs typeface="Segoe UI"/>
              </a:rPr>
              <a:t>Test Set Performance</a:t>
            </a:r>
            <a:endParaRPr lang="en-US">
              <a:latin typeface="Garamond"/>
            </a:endParaRPr>
          </a:p>
          <a:p>
            <a:endParaRPr lang="en-US">
              <a:latin typeface="Garamond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766FD2F-248A-4AA1-8078-E26D6E69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33837" y="6172200"/>
            <a:ext cx="976063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2" name="Content Placeholder 2">
            <a:extLst>
              <a:ext uri="{FF2B5EF4-FFF2-40B4-BE49-F238E27FC236}">
                <a16:creationId xmlns:a16="http://schemas.microsoft.com/office/drawing/2014/main" id="{6C658B4B-8F48-5066-46E7-2F7D4C7EDF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0790789"/>
              </p:ext>
            </p:extLst>
          </p:nvPr>
        </p:nvGraphicFramePr>
        <p:xfrm>
          <a:off x="5650663" y="1023909"/>
          <a:ext cx="5398337" cy="48293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537067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8" name="Rectangle 57">
            <a:extLst>
              <a:ext uri="{FF2B5EF4-FFF2-40B4-BE49-F238E27FC236}">
                <a16:creationId xmlns:a16="http://schemas.microsoft.com/office/drawing/2014/main" id="{FA294778-47A8-4EEF-9689-F6964D44D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Freeform: Shape 35">
            <a:extLst>
              <a:ext uri="{FF2B5EF4-FFF2-40B4-BE49-F238E27FC236}">
                <a16:creationId xmlns:a16="http://schemas.microsoft.com/office/drawing/2014/main" id="{BD2A511A-065F-489D-9CF0-FEF36143AC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 flipV="1">
            <a:off x="5318060" y="0"/>
            <a:ext cx="6885325" cy="6858000"/>
          </a:xfrm>
          <a:custGeom>
            <a:avLst/>
            <a:gdLst>
              <a:gd name="connsiteX0" fmla="*/ 4456883 w 6885325"/>
              <a:gd name="connsiteY0" fmla="*/ 6858000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4456884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9" fmla="*/ 4456884 w 6885325"/>
              <a:gd name="connsiteY9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4070876 h 6858000"/>
              <a:gd name="connsiteX8" fmla="*/ 6885325 w 6885325"/>
              <a:gd name="connsiteY8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4 w 6885325"/>
              <a:gd name="connsiteY6" fmla="*/ 4070877 h 6858000"/>
              <a:gd name="connsiteX7" fmla="*/ 6885325 w 6885325"/>
              <a:gd name="connsiteY7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4 w 6885325"/>
              <a:gd name="connsiteY5" fmla="*/ 1545582 h 6858000"/>
              <a:gd name="connsiteX6" fmla="*/ 6885325 w 6885325"/>
              <a:gd name="connsiteY6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1545581 h 6858000"/>
              <a:gd name="connsiteX5" fmla="*/ 6885325 w 6885325"/>
              <a:gd name="connsiteY5" fmla="*/ 6857999 h 6858000"/>
              <a:gd name="connsiteX0" fmla="*/ 6885325 w 6885325"/>
              <a:gd name="connsiteY0" fmla="*/ 6857999 h 6858000"/>
              <a:gd name="connsiteX1" fmla="*/ 0 w 6885325"/>
              <a:gd name="connsiteY1" fmla="*/ 6858000 h 6858000"/>
              <a:gd name="connsiteX2" fmla="*/ 6010592 w 6885325"/>
              <a:gd name="connsiteY2" fmla="*/ 0 h 6858000"/>
              <a:gd name="connsiteX3" fmla="*/ 6885325 w 6885325"/>
              <a:gd name="connsiteY3" fmla="*/ 0 h 6858000"/>
              <a:gd name="connsiteX4" fmla="*/ 6885325 w 6885325"/>
              <a:gd name="connsiteY4" fmla="*/ 685799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85325" h="6858000">
                <a:moveTo>
                  <a:pt x="6885325" y="6857999"/>
                </a:moveTo>
                <a:lnTo>
                  <a:pt x="0" y="6858000"/>
                </a:lnTo>
                <a:lnTo>
                  <a:pt x="6010592" y="0"/>
                </a:lnTo>
                <a:lnTo>
                  <a:pt x="6885325" y="0"/>
                </a:lnTo>
                <a:lnTo>
                  <a:pt x="6885325" y="6857999"/>
                </a:lnTo>
                <a:close/>
              </a:path>
            </a:pathLst>
          </a:custGeom>
          <a:solidFill>
            <a:srgbClr val="FFFFFF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0" name="Freeform: Shape 37">
            <a:extLst>
              <a:ext uri="{FF2B5EF4-FFF2-40B4-BE49-F238E27FC236}">
                <a16:creationId xmlns:a16="http://schemas.microsoft.com/office/drawing/2014/main" id="{6F626582-88CC-4CA0-8BC6-94550FF9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1317267" cy="6858000"/>
          </a:xfrm>
          <a:custGeom>
            <a:avLst/>
            <a:gdLst>
              <a:gd name="connsiteX0" fmla="*/ 0 w 11317267"/>
              <a:gd name="connsiteY0" fmla="*/ 0 h 6858000"/>
              <a:gd name="connsiteX1" fmla="*/ 11317267 w 11317267"/>
              <a:gd name="connsiteY1" fmla="*/ 0 h 6858000"/>
              <a:gd name="connsiteX2" fmla="*/ 5306679 w 11317267"/>
              <a:gd name="connsiteY2" fmla="*/ 6857996 h 6858000"/>
              <a:gd name="connsiteX3" fmla="*/ 5306677 w 11317267"/>
              <a:gd name="connsiteY3" fmla="*/ 6857998 h 6858000"/>
              <a:gd name="connsiteX4" fmla="*/ 5306675 w 11317267"/>
              <a:gd name="connsiteY4" fmla="*/ 6858000 h 6858000"/>
              <a:gd name="connsiteX5" fmla="*/ 0 w 11317267"/>
              <a:gd name="connsiteY5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317267" h="6858000">
                <a:moveTo>
                  <a:pt x="0" y="0"/>
                </a:moveTo>
                <a:lnTo>
                  <a:pt x="11317267" y="0"/>
                </a:lnTo>
                <a:lnTo>
                  <a:pt x="5306679" y="6857996"/>
                </a:lnTo>
                <a:cubicBezTo>
                  <a:pt x="5306679" y="6857997"/>
                  <a:pt x="5306677" y="6857997"/>
                  <a:pt x="5306677" y="6857998"/>
                </a:cubicBezTo>
                <a:lnTo>
                  <a:pt x="5306675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BCD1C9-B45C-D242-646E-F7B028DD0E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872937"/>
            <a:ext cx="7492285" cy="1360898"/>
          </a:xfrm>
        </p:spPr>
        <p:txBody>
          <a:bodyPr>
            <a:normAutofit/>
          </a:bodyPr>
          <a:lstStyle/>
          <a:p>
            <a:r>
              <a:rPr lang="en-US" b="1">
                <a:latin typeface="Garamond"/>
                <a:cs typeface="Segoe UI"/>
              </a:rPr>
              <a:t>Key Takeaways</a:t>
            </a:r>
            <a:endParaRPr lang="en-US" b="1">
              <a:latin typeface="Garamond"/>
            </a:endParaRP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8294F5D5-D8F7-8682-E8DC-E83AC9C51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1" y="2122202"/>
            <a:ext cx="5115812" cy="3653035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10000"/>
              </a:lnSpc>
            </a:pPr>
            <a:r>
              <a:rPr lang="en-US" sz="1400" b="1">
                <a:latin typeface="Garamond"/>
              </a:rPr>
              <a:t>Successful Clustering Strategy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Garamond"/>
                <a:cs typeface="Segoe UI"/>
              </a:rPr>
              <a:t>K-Means clustering effectively separated companies into meaningful risk groups, enabling specialized models for each subgroup.</a:t>
            </a:r>
            <a:endParaRPr lang="en-US" sz="14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400" b="1">
                <a:latin typeface="Garamond"/>
              </a:rPr>
              <a:t>High Detection Rate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Garamond"/>
                <a:cs typeface="Segoe UI"/>
              </a:rPr>
              <a:t>Achieved 94.95% bankruptcy detection rate (188/198) across training clusters through stacking ensemble approach.</a:t>
            </a:r>
            <a:endParaRPr lang="en-US" sz="14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400" b="1">
                <a:latin typeface="Garamond"/>
              </a:rPr>
              <a:t>Effective Generalization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Garamond"/>
                <a:cs typeface="Segoe UI"/>
              </a:rPr>
              <a:t>Model successfully generalized to test data with 4.15% positive prediction rate, well within constraints.</a:t>
            </a:r>
            <a:endParaRPr lang="en-US" sz="1400">
              <a:latin typeface="Garamond"/>
            </a:endParaRPr>
          </a:p>
          <a:p>
            <a:pPr>
              <a:lnSpc>
                <a:spcPct val="110000"/>
              </a:lnSpc>
            </a:pPr>
            <a:r>
              <a:rPr lang="en-US" sz="1400" b="1">
                <a:latin typeface="Garamond"/>
              </a:rPr>
              <a:t>Team Collaboration</a:t>
            </a:r>
          </a:p>
          <a:p>
            <a:pPr>
              <a:lnSpc>
                <a:spcPct val="110000"/>
              </a:lnSpc>
            </a:pPr>
            <a:r>
              <a:rPr lang="en-US" sz="1400">
                <a:latin typeface="Garamond"/>
                <a:cs typeface="Segoe UI"/>
              </a:rPr>
              <a:t>Divide and conquer approach allowed team members to specialize in different clusters while maintaining cohesive results.</a:t>
            </a:r>
            <a:endParaRPr lang="en-US" sz="1400">
              <a:latin typeface="Garamond"/>
            </a:endParaRPr>
          </a:p>
          <a:p>
            <a:pPr>
              <a:lnSpc>
                <a:spcPct val="110000"/>
              </a:lnSpc>
            </a:pPr>
            <a:endParaRPr lang="en-US" sz="1400">
              <a:latin typeface="Garamond"/>
            </a:endParaRPr>
          </a:p>
        </p:txBody>
      </p:sp>
      <p:pic>
        <p:nvPicPr>
          <p:cNvPr id="27" name="Picture 26" descr="Angled shot of pen on a graph">
            <a:extLst>
              <a:ext uri="{FF2B5EF4-FFF2-40B4-BE49-F238E27FC236}">
                <a16:creationId xmlns:a16="http://schemas.microsoft.com/office/drawing/2014/main" id="{9DD9F8C7-8518-F41D-A354-F97C42B518C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6442" b="-1"/>
          <a:stretch>
            <a:fillRect/>
          </a:stretch>
        </p:blipFill>
        <p:spPr>
          <a:xfrm>
            <a:off x="8410514" y="3428999"/>
            <a:ext cx="3069605" cy="2785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0766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6">
            <a:extLst>
              <a:ext uri="{FF2B5EF4-FFF2-40B4-BE49-F238E27FC236}">
                <a16:creationId xmlns:a16="http://schemas.microsoft.com/office/drawing/2014/main" id="{5CD60141-EEBD-4EC1-8E34-0344C16A18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8308" y="0"/>
            <a:ext cx="6873692" cy="6858000"/>
          </a:xfrm>
          <a:custGeom>
            <a:avLst/>
            <a:gdLst/>
            <a:ahLst/>
            <a:cxnLst/>
            <a:rect l="l" t="t" r="r" b="b"/>
            <a:pathLst>
              <a:path w="6873692" h="6858000">
                <a:moveTo>
                  <a:pt x="6010592" y="0"/>
                </a:moveTo>
                <a:lnTo>
                  <a:pt x="6873692" y="0"/>
                </a:lnTo>
                <a:lnTo>
                  <a:pt x="6873692" y="6858000"/>
                </a:lnTo>
                <a:lnTo>
                  <a:pt x="0" y="6858000"/>
                </a:lnTo>
                <a:lnTo>
                  <a:pt x="6010589" y="4"/>
                </a:lnTo>
                <a:cubicBezTo>
                  <a:pt x="6010589" y="3"/>
                  <a:pt x="6010590" y="3"/>
                  <a:pt x="6010590" y="2"/>
                </a:cubicBezTo>
                <a:lnTo>
                  <a:pt x="6010592" y="0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C75A547-BCD1-42BE-966E-53CA0AB93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88357" y="5151666"/>
            <a:ext cx="9822543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E5B79A0-69AD-4CBD-897F-32C7A2BA2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DEA96B-0898-4B11-9265-24E56B129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7929" y="1181101"/>
            <a:ext cx="7236143" cy="26109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4800" cap="all" spc="300"/>
              <a:t>Thank You</a:t>
            </a:r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74270B3E-3C96-4381-9F21-EC83F1E1A0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71DF4C0-7A22-4E59-9E9C-BD2E245364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116708" y="4316888"/>
            <a:ext cx="195858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6">
            <a:extLst>
              <a:ext uri="{FF2B5EF4-FFF2-40B4-BE49-F238E27FC236}">
                <a16:creationId xmlns:a16="http://schemas.microsoft.com/office/drawing/2014/main" id="{7C2F33EB-E7CB-4EE9-BBBF-D632F5C00E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749268" y="4070878"/>
            <a:ext cx="2442733" cy="2787123"/>
          </a:xfrm>
          <a:custGeom>
            <a:avLst/>
            <a:gdLst>
              <a:gd name="connsiteX0" fmla="*/ 2442733 w 2442733"/>
              <a:gd name="connsiteY0" fmla="*/ 0 h 2787123"/>
              <a:gd name="connsiteX1" fmla="*/ 2442733 w 2442733"/>
              <a:gd name="connsiteY1" fmla="*/ 2787123 h 2787123"/>
              <a:gd name="connsiteX2" fmla="*/ 0 w 2442733"/>
              <a:gd name="connsiteY2" fmla="*/ 2787123 h 27871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442733" h="2787123">
                <a:moveTo>
                  <a:pt x="2442733" y="0"/>
                </a:moveTo>
                <a:lnTo>
                  <a:pt x="2442733" y="2787123"/>
                </a:lnTo>
                <a:lnTo>
                  <a:pt x="0" y="2787123"/>
                </a:lnTo>
                <a:close/>
              </a:path>
            </a:pathLst>
          </a:cu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0503155"/>
      </p:ext>
    </p:extLst>
  </p:cSld>
  <p:clrMapOvr>
    <a:masterClrMapping/>
  </p:clrMapOvr>
</p:sld>
</file>

<file path=ppt/theme/theme1.xml><?xml version="1.0" encoding="utf-8"?>
<a:theme xmlns:a="http://schemas.openxmlformats.org/drawingml/2006/main" name="RegattaVTI">
  <a:themeElements>
    <a:clrScheme name="Regatta Yellow">
      <a:dk1>
        <a:sysClr val="windowText" lastClr="000000"/>
      </a:dk1>
      <a:lt1>
        <a:sysClr val="window" lastClr="FFFFFF"/>
      </a:lt1>
      <a:dk2>
        <a:srgbClr val="181C30"/>
      </a:dk2>
      <a:lt2>
        <a:srgbClr val="C8E1F4"/>
      </a:lt2>
      <a:accent1>
        <a:srgbClr val="217ED3"/>
      </a:accent1>
      <a:accent2>
        <a:srgbClr val="B92525"/>
      </a:accent2>
      <a:accent3>
        <a:srgbClr val="18558C"/>
      </a:accent3>
      <a:accent4>
        <a:srgbClr val="1D8B35"/>
      </a:accent4>
      <a:accent5>
        <a:srgbClr val="EA75AA"/>
      </a:accent5>
      <a:accent6>
        <a:srgbClr val="F5A700"/>
      </a:accent6>
      <a:hlink>
        <a:srgbClr val="DB0000"/>
      </a:hlink>
      <a:folHlink>
        <a:srgbClr val="066BB6"/>
      </a:folHlink>
    </a:clrScheme>
    <a:fontScheme name="Walbaum Display">
      <a:majorFont>
        <a:latin typeface="Walbaum Display"/>
        <a:ea typeface=""/>
        <a:cs typeface=""/>
      </a:majorFont>
      <a:minorFont>
        <a:latin typeface="Walbaum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gattaVTI" id="{FFC3BCE5-6357-41D1-8E67-3F85B69D7E86}" vid="{893A6374-FE17-48E5-8B62-678C1B11AA1B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</TotalTime>
  <Words>633</Words>
  <Application>Microsoft Macintosh PowerPoint</Application>
  <PresentationFormat>Widescreen</PresentationFormat>
  <Paragraphs>127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Garamond</vt:lpstr>
      <vt:lpstr>Walbaum Display</vt:lpstr>
      <vt:lpstr>RegattaVTI</vt:lpstr>
      <vt:lpstr>Company Bankruptcy Prediction  A Divide and Conquer Approach  CS 559 - Machine Learning Funds &amp; Apps    Team Members  1. Bhushan Asati (Cluster 0) 2. Anirudh Sharma (Cluster 1) 3. Rujuta Dabke (Cluster 5) 4. Suyash Madhavi (Cluster 6)</vt:lpstr>
      <vt:lpstr>Project Overview</vt:lpstr>
      <vt:lpstr>Company Characterization</vt:lpstr>
      <vt:lpstr>Subgroup Analysis (Part 1)</vt:lpstr>
      <vt:lpstr>Cluster 1</vt:lpstr>
      <vt:lpstr>Cluster 5</vt:lpstr>
      <vt:lpstr>Cluster 6</vt:lpstr>
      <vt:lpstr>Clusters 2, 3, 4: No Risk</vt:lpstr>
      <vt:lpstr>Model Performance by Subgroup</vt:lpstr>
      <vt:lpstr>Meta-Model vs Base Models</vt:lpstr>
      <vt:lpstr>Cluster 1 (Safe)</vt:lpstr>
      <vt:lpstr>Cluster 5 (High Risk)</vt:lpstr>
      <vt:lpstr>Cluster 6 (Edge Case)</vt:lpstr>
      <vt:lpstr>Test Set Performance 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Bhushan Gyanchand Asati</dc:creator>
  <cp:lastModifiedBy>Bhushan Gyanchand Asati</cp:lastModifiedBy>
  <cp:revision>2</cp:revision>
  <dcterms:created xsi:type="dcterms:W3CDTF">2025-12-08T02:44:06Z</dcterms:created>
  <dcterms:modified xsi:type="dcterms:W3CDTF">2025-12-08T05:43:30Z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3fd474-4f3c-44ed-88fb-5cc4bd2471bf_Enabled">
    <vt:lpwstr>true</vt:lpwstr>
  </property>
  <property fmtid="{D5CDD505-2E9C-101B-9397-08002B2CF9AE}" pid="3" name="MSIP_Label_a73fd474-4f3c-44ed-88fb-5cc4bd2471bf_SetDate">
    <vt:lpwstr>2025-12-08T02:58:51Z</vt:lpwstr>
  </property>
  <property fmtid="{D5CDD505-2E9C-101B-9397-08002B2CF9AE}" pid="4" name="MSIP_Label_a73fd474-4f3c-44ed-88fb-5cc4bd2471bf_Method">
    <vt:lpwstr>Privileged</vt:lpwstr>
  </property>
  <property fmtid="{D5CDD505-2E9C-101B-9397-08002B2CF9AE}" pid="5" name="MSIP_Label_a73fd474-4f3c-44ed-88fb-5cc4bd2471bf_Name">
    <vt:lpwstr>defa4170-0d19-0005-0004-bc88714345d2</vt:lpwstr>
  </property>
  <property fmtid="{D5CDD505-2E9C-101B-9397-08002B2CF9AE}" pid="6" name="MSIP_Label_a73fd474-4f3c-44ed-88fb-5cc4bd2471bf_SiteId">
    <vt:lpwstr>8d1a69ec-03b5-4345-ae21-dad112f5fb4f</vt:lpwstr>
  </property>
  <property fmtid="{D5CDD505-2E9C-101B-9397-08002B2CF9AE}" pid="7" name="MSIP_Label_a73fd474-4f3c-44ed-88fb-5cc4bd2471bf_ActionId">
    <vt:lpwstr>addc83f4-5be4-4d28-81ed-e0726ba64315</vt:lpwstr>
  </property>
  <property fmtid="{D5CDD505-2E9C-101B-9397-08002B2CF9AE}" pid="8" name="MSIP_Label_a73fd474-4f3c-44ed-88fb-5cc4bd2471bf_ContentBits">
    <vt:lpwstr>0</vt:lpwstr>
  </property>
  <property fmtid="{D5CDD505-2E9C-101B-9397-08002B2CF9AE}" pid="9" name="MSIP_Label_a73fd474-4f3c-44ed-88fb-5cc4bd2471bf_Tag">
    <vt:lpwstr>50, 0, 1, 1</vt:lpwstr>
  </property>
</Properties>
</file>